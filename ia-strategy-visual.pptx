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9"/>
    <p:sldId id="267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IA System Development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BDEFB"/>
                </a:solidFill>
              </a:defRPr>
            </a:pPr>
            <a:r>
              <a:t>Visual Roadmap 2026–2029+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90CAF9"/>
                </a:solidFill>
              </a:defRPr>
            </a:pPr>
            <a:r>
              <a:t>In-house AI Harness → External Service + SaaS/BaaS Product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90CAF9"/>
                </a:solidFill>
              </a:defRPr>
            </a:pPr>
            <a:r>
              <a:t>18 projects · 6 categories · 5 sections · Prepared for company-wide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1 — CURRENT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Today all six apps share one backend and one database. Reservation forms live in production only. Support knowledge is locked in Zendesk. No local AI, no SaaS foundation.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Bohr Ind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Bohr Corp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Ind IAHP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Corp IAHP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Zan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Kiku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02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↓ ↓ ↓ ↓ ↓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920240"/>
            <a:ext cx="3931920" cy="411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200" b="1">
                <a:solidFill>
                  <a:srgbClr val="1E1E1E"/>
                </a:solidFill>
              </a:defRPr>
            </a:pPr>
            <a:r>
              <a:t>member/backend (shared)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3774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↓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0" y="2697480"/>
            <a:ext cx="1371600" cy="1371600"/>
          </a:xfrm>
          <a:prstGeom prst="ellipse">
            <a:avLst/>
          </a:prstGeom>
          <a:solidFill>
            <a:srgbClr val="FFF9C4"/>
          </a:solidFill>
          <a:ln w="254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1E1E1E"/>
                </a:solidFill>
              </a:defRPr>
            </a:pPr>
            <a: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976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62828"/>
                </a:solidFill>
              </a:defRPr>
            </a:pPr>
            <a:r>
              <a:t>Key Issues with the Current 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63440"/>
            <a:ext cx="411480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663440"/>
            <a:ext cx="704088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Impact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83479"/>
            <a:ext cx="411480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All apps share one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4983479"/>
            <a:ext cx="704088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One bug affects everything. Can't deploy independently.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03519"/>
            <a:ext cx="41148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source control on forms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5303519"/>
            <a:ext cx="704088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Production-only risk. No rollback. Can't review safely.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23559"/>
            <a:ext cx="411480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Support knowledge in Zendesk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5623559"/>
            <a:ext cx="704088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Can't reuse in AI. Vendor dependency.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43599"/>
            <a:ext cx="41148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OD video = 10h per lesson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5943599"/>
            <a:ext cx="704088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Only ~6/month vs desired ~24. Manual bottleneck.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263640"/>
            <a:ext cx="411480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local AI capability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6263640"/>
            <a:ext cx="704088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Depends on external APIs or personal machines.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583679"/>
            <a:ext cx="41148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SaaS foundation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6583679"/>
            <a:ext cx="704088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Can't sell as platforms. Every client is a one-off fork.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2 — THE IDEAL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Two parallel revenue paths from one engineering foundation: AI Harness service + SaaS/BaaS products + training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474720" cy="1828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37160" bIns="27432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🤖 AI Harness Service</a:t>
            </a:r>
          </a:p>
          <a:p>
            <a:pPr algn="l"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In-house AI harness → client implementation service with training</a:t>
            </a:r>
          </a:p>
          <a:p>
            <a:pPr algn="l">
              <a:spcBef>
                <a:spcPts val="600"/>
              </a:spcBef>
              <a:defRPr sz="900">
                <a:solidFill>
                  <a:srgbClr val="FFFFFF"/>
                </a:solidFill>
              </a:defRPr>
            </a:pPr>
            <a:r>
              <a:t>Revenue-ready: H2 2028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051560"/>
            <a:ext cx="3474720" cy="182880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37160" bIns="27432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📦 SaaS / BaaS Products</a:t>
            </a:r>
          </a:p>
          <a:p>
            <a:pPr algn="l"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Separate backends → SaaSify Corp Bohr → Zan → Kiku as platforms</a:t>
            </a:r>
          </a:p>
          <a:p>
            <a:pPr algn="l">
              <a:spcBef>
                <a:spcPts val="600"/>
              </a:spcBef>
              <a:defRPr sz="900">
                <a:solidFill>
                  <a:srgbClr val="FFFFFF"/>
                </a:solidFill>
              </a:defRPr>
            </a:pPr>
            <a:r>
              <a:t>First MVP: H2 2028 · GTM: 2029+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051560"/>
            <a:ext cx="3474720" cy="18288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37160" bIns="27432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🎓 Training &amp; Enablement</a:t>
            </a:r>
          </a:p>
          <a:p>
            <a:pPr algn="l"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Workshops, briefings, playbooks for client adoption</a:t>
            </a:r>
          </a:p>
          <a:p>
            <a:pPr algn="l">
              <a:spcBef>
                <a:spcPts val="600"/>
              </a:spcBef>
              <a:defRPr sz="900">
                <a:solidFill>
                  <a:srgbClr val="FFFFFF"/>
                </a:solidFill>
              </a:defRPr>
            </a:pPr>
            <a:r>
              <a:t>Pilot: 2029+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Target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Bohr Ind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Bohr Corp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Ind IAHP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Corp IAHP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Zan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Kiku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 Ind</a:t>
            </a:r>
            <a:br/>
            <a:r>
              <a:t>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 Corp</a:t>
            </a:r>
            <a:br/>
            <a:r>
              <a:t>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Ind IAHP</a:t>
            </a:r>
            <a:br/>
            <a:r>
              <a:t>Backend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Corp IAHP</a:t>
            </a:r>
            <a:br/>
            <a:r>
              <a:t>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</a:t>
            </a:r>
            <a:br/>
            <a:r>
              <a:t>Backend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</a:t>
            </a:r>
            <a:br/>
            <a: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2062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16161"/>
                </a:solidFill>
              </a:defRPr>
            </a:pPr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7C00"/>
                </a:solidFill>
              </a:defRPr>
            </a:pPr>
            <a:r>
              <a:t>Shared Handlers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Content Handler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475488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Event Handler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12064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File Handler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512064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Database Handler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4864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F57C00"/>
                </a:solidFill>
              </a:defRPr>
            </a:pPr>
            <a:r>
              <a:t>PLAT-01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4805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A1B9A"/>
                </a:solidFill>
              </a:defRPr>
            </a:pPr>
            <a:r>
              <a:t>Knowledge / AI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754880"/>
            <a:ext cx="4389120" cy="301752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IAGPT Knowledge Base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120640"/>
            <a:ext cx="1371600" cy="3657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Customer AI</a:t>
            </a:r>
            <a:br/>
            <a:r>
              <a:t>(IAGPT-04)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5120640"/>
            <a:ext cx="1371600" cy="3657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Digital Text</a:t>
            </a:r>
            <a:br/>
            <a:r>
              <a:t>(IAGPT-03)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75520" y="5120640"/>
            <a:ext cx="1371600" cy="3657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Zendesk</a:t>
            </a:r>
            <a:br/>
            <a:r>
              <a:t>(IAGPT-02)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5577840"/>
            <a:ext cx="4389120" cy="27432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Local AI Hardware (AI-01)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Multi-Tenant SaaS Layer (2028+): TENANT-01 → BOHRCORP-01 → ZAN-01 → KIKU-01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2b — How Each Issue Gets 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274320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822960"/>
            <a:ext cx="256032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Solved by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822960"/>
            <a:ext cx="576072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274320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Shared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143000"/>
            <a:ext cx="25603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APP-SEP-01, PLAT-01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143000"/>
            <a:ext cx="57607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Each app gets its own backend + shared handlers. Independent deployment and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743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Reservation form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645920"/>
            <a:ext cx="25603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IAHP-01, IAHP-02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645920"/>
            <a:ext cx="57607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Forms move to source control. Review, rollback, safe design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274320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Vendor-hosted knowledge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48840"/>
            <a:ext cx="25603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IAGPT-02, IAGPT-03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148840"/>
            <a:ext cx="57607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Support + curriculum knowledge moves into IA-controlled knowledge base.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2743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OD video bottleneck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2651760"/>
            <a:ext cx="25603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AI-01, AI-02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651760"/>
            <a:ext cx="57607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Local AI hardware + automated OD pipeline. 6→24 lessons/month.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54680"/>
            <a:ext cx="274320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local AI / staff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154680"/>
            <a:ext cx="25603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AI-01, DEVAI-01, GOV-01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154680"/>
            <a:ext cx="57607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Local hardware + staff app builder + PR governance. Staff build, engineers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57600"/>
            <a:ext cx="2743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SaaS foundation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657600"/>
            <a:ext cx="25603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TENANT-01, BOHRCORP-01, ZAN-01, KIKU-01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3657600"/>
            <a:ext cx="57607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Multi-tenant model + per-product SaaSification. Sellable platforms, not forks.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3 — BENEFITS TO THE COMPANY &amp; DEPARTMENTS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A237E"/>
                </a:solidFill>
              </a:defRPr>
            </a:pPr>
            <a:r>
              <a:t>In the ideal situation, each department gets: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System Dev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Clear app boundaries, ownership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Shared APIs — less duplicate work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Scalable AI contributions + governance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Reusable methods for client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39" y="109728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Curriculum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6→24 OD lessons/month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Local AI testing environment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Curriculum in searchable KB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Build tools without eng bandwidth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8" y="109728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Marketing/Sales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Reliable lead funnel — less risk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More content for lead gen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New services to sell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Pricing &amp; sales materials packaged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4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Support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Search approved answers in IAGPT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Grounded answers from curriculum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Less repetitive load — escalation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Build support tools locally with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374904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Operations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Stable reservations — source control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Clearer corporate inquiry ownership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Less cross-product risk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Configurable admin platform (long-term)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8" y="374904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Management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New revenue: AI Harness + SaaS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Evidence-based architecture decisions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Quality/risk control on AI dev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Clear staffing plan — 3 hires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4a — Timeline: When Each Project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Each bar shows active months. Labels show dependencies (→ depends on, ⊢ blocks)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1A AI Infra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1389888"/>
            <a:ext cx="2157984" cy="201168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AI-01 Local AI 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1664208"/>
            <a:ext cx="2157984" cy="201168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AI-02 OD Video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14884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1B Reservation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2167128"/>
            <a:ext cx="1060704" cy="201168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IAHP-01 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8688" y="2167128"/>
            <a:ext cx="1060704" cy="201168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IAHP-02 Corp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1C Knowledge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2944368"/>
            <a:ext cx="1060704" cy="2011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IAGPT-02 Zendesk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2944368"/>
            <a:ext cx="1060704" cy="2011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IAGPT-03 Dig.Text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18688" y="3218688"/>
            <a:ext cx="2157984" cy="2011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IAGPT-04 Cust.AI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33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2A-C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3721608"/>
            <a:ext cx="2157984" cy="2011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ARCH-01 Boundary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18688" y="3995928"/>
            <a:ext cx="5449824" cy="2011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PLAT-01 Handlers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18688" y="4270248"/>
            <a:ext cx="8741664" cy="2011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APP-SEP-01 Separation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8056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3A-D AI-First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498848"/>
            <a:ext cx="215798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GOV-01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773168"/>
            <a:ext cx="435254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DEVAI-01 Staff Bldr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5047488"/>
            <a:ext cx="435254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HARNESS-01 Service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99648" y="5321808"/>
            <a:ext cx="106070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TRAIN-01 Teaching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5780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4A-E SaaS/BaaS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5276088"/>
            <a:ext cx="435254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TENANT-01 SaaS 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5550408"/>
            <a:ext cx="435254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BOHRCORP-01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99648" y="5824728"/>
            <a:ext cx="106070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ZAN-01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899648" y="6099048"/>
            <a:ext cx="106070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KIKU-01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99648" y="6373368"/>
            <a:ext cx="106070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MARKET-01 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4b — Dependency Chain: How Projects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Foundation → Internal Capability → External Revenue. Two paths converge at GTM.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A237E"/>
                </a:solidFill>
              </a:defRPr>
            </a:pPr>
            <a:r>
              <a:t>PHASE 1 — Foundation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2367" y="1325880"/>
            <a:ext cx="2286000" cy="7772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</a:t>
            </a:r>
            <a:br/>
            <a:r>
              <a:t>AI-01</a:t>
            </a:r>
            <a:br/>
            <a:r>
              <a:t>Local AI HW</a:t>
            </a:r>
            <a:br/>
            <a:r>
              <a:t>Compute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367" y="16047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2687" y="1325880"/>
            <a:ext cx="2286000" cy="7772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</a:t>
            </a:r>
            <a:br/>
            <a:r>
              <a:t>AI-02</a:t>
            </a:r>
            <a:br/>
            <a:r>
              <a:t>OD Video</a:t>
            </a:r>
            <a:br/>
            <a:r>
              <a:t>6→24/mo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6047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325880"/>
            <a:ext cx="2286000" cy="7772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</a:t>
            </a:r>
            <a:br/>
            <a:r>
              <a:t>IAGPT 02→04</a:t>
            </a:r>
            <a:br/>
            <a:r>
              <a:t>Knowledge</a:t>
            </a:r>
            <a:br/>
            <a:r>
              <a:t>Zendesk→AI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9007" y="16047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3327" y="1325880"/>
            <a:ext cx="2286000" cy="77724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</a:t>
            </a:r>
            <a:br/>
            <a:r>
              <a:t>IAHP 01→02</a:t>
            </a:r>
            <a:br/>
            <a:r>
              <a:t>Reservation</a:t>
            </a:r>
            <a:br/>
            <a:r>
              <a:t>Source ctrl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7C00"/>
                </a:solidFill>
              </a:defRPr>
            </a:pPr>
            <a:r>
              <a:t>PHASE 2 — Architecture (2026–2029+)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2527" y="2606040"/>
            <a:ext cx="228600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</a:t>
            </a:r>
            <a:br/>
            <a:r>
              <a:t>ARCH-01</a:t>
            </a:r>
            <a:br/>
            <a:r>
              <a:t>Boundaries</a:t>
            </a:r>
            <a:br/>
            <a:r>
              <a:t>Map 6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527" y="288493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847" y="2606040"/>
            <a:ext cx="228600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</a:t>
            </a:r>
            <a:br/>
            <a:r>
              <a:t>PLAT-01</a:t>
            </a:r>
            <a:br/>
            <a:r>
              <a:t>Handlers</a:t>
            </a:r>
            <a:br/>
            <a:r>
              <a:t>Shared svc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847" y="288493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13167" y="2606040"/>
            <a:ext cx="228600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7</a:t>
            </a:r>
            <a:br/>
            <a:r>
              <a:t>APP-SEP-01</a:t>
            </a:r>
            <a:br/>
            <a:r>
              <a:t>Separation</a:t>
            </a:r>
            <a:br/>
            <a:r>
              <a:t>6 backends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5760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PHASE 3 — Two Revenue Paths (2027–2029+)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77639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7D32"/>
                </a:solidFill>
              </a:defRPr>
            </a:pPr>
            <a:r>
              <a:t>PATH A: AI Harness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6382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8a</a:t>
            </a:r>
            <a:br/>
            <a:r>
              <a:t>GOV-01</a:t>
            </a:r>
            <a:br/>
            <a:r>
              <a:t>Governance</a:t>
            </a:r>
            <a:br/>
            <a:r>
              <a:t>CI,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8387" y="448513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8698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9a</a:t>
            </a:r>
            <a:br/>
            <a:r>
              <a:t>DEVAI-01</a:t>
            </a:r>
            <a:br/>
            <a:r>
              <a:t>Staff Bldr</a:t>
            </a:r>
            <a:br/>
            <a:r>
              <a:t>Build→PR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1547" y="448513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014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10a</a:t>
            </a:r>
            <a:br/>
            <a:r>
              <a:t>HARNESS</a:t>
            </a:r>
            <a:br/>
            <a:r>
              <a:t>Service Pkg</a:t>
            </a:r>
            <a:br/>
            <a:r>
              <a:t>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707" y="448513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3330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11a</a:t>
            </a:r>
            <a:br/>
            <a:r>
              <a:t>TRAIN-01</a:t>
            </a:r>
            <a:br/>
            <a:r>
              <a:t>Teaching</a:t>
            </a:r>
            <a:br/>
            <a:r>
              <a:t>Workshops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074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62828"/>
                </a:solidFill>
              </a:defRPr>
            </a:pPr>
            <a:r>
              <a:t>PATH B: SaaS / BaaS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6382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8b</a:t>
            </a:r>
            <a:br/>
            <a:r>
              <a:t>TENANT-01</a:t>
            </a:r>
            <a:br/>
            <a:r>
              <a:t>SaaS Base</a:t>
            </a:r>
            <a:br/>
            <a:r>
              <a:t>Multi-tenant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8387" y="558241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8698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9b</a:t>
            </a:r>
            <a:br/>
            <a:r>
              <a:t>BOHRCORP</a:t>
            </a:r>
            <a:br/>
            <a:r>
              <a:t>Corp Bohr</a:t>
            </a:r>
            <a:br/>
            <a:r>
              <a:t>LMS/CRM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1547" y="558241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14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10b</a:t>
            </a:r>
            <a:br/>
            <a:r>
              <a:t>ZAN/KIKU</a:t>
            </a:r>
            <a:br/>
            <a:r>
              <a:t>More SaaS</a:t>
            </a:r>
            <a:br/>
            <a:r>
              <a:t>Expand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4707" y="558241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3330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11b</a:t>
            </a:r>
            <a:br/>
            <a:r>
              <a:t>MARKET-01</a:t>
            </a:r>
            <a:br/>
            <a:r>
              <a:t>GTM</a:t>
            </a:r>
            <a:br/>
            <a:r>
              <a:t>Sales mat.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16161"/>
                </a:solidFill>
              </a:defRPr>
            </a:pPr>
            <a:r>
              <a:t>↑ Both paths converge at MARKET-01 — unified go-to-market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3b — Per-Project Benefits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Green ● = strong · Yellow ● = moderate · Blue ● = indirect · — = none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118872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3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1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8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63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33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9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86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188720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AI-01 Local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Shared AI env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63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Local AI testing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1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Faster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8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Future 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163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3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ext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1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9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6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1444752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AI-02 OD Video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5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63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6→24/mo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1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More leads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8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Faster refresh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163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3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4x throughput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1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9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6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700784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IAHP-01 Ind Mig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45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Source control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63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Reliable funnel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98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163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Stable ops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33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51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69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Design review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6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1956816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IAHP-02 Corp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45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Controlled form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63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1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Corp intake stable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98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163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Clearer ownership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33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51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69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6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212848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IAGPT-02 Zendesk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45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IA knowledge base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63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81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98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Search answers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163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33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vendor dep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51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69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6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2468880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IAGPT-03 Dig.Text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645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Knowledge pipeline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3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Curriculum in KB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881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98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Grounded answers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163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3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Asset value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51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69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6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2724912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IAGPT-04 Cust.AI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645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AI channel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63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81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Support channel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98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repetitive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163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33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Cost reduction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51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469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86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2980944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ARCH-01 Boundaries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645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Clear ownership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763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81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998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63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Fewer regressions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233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Evidence-based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51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469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86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Clear boundaries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3236976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PLAT-01 Handlers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645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Shared APIs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63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881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98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63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Stable behavior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33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Reusability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351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469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586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Easier custom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57200" y="3493008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APP-SEP-01 Sep.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6459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App ownership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635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Product-specific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8811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features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9987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1163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cross-risk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2339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Marketable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3515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4691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5867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Indep. ownership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3b — Per-Project Benefits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Green ● = strong · Yellow ● = moderate · Blue ● = indirect · — = none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118872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3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1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8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63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33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9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86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188720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GOV-01 PR Gov.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Scalable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63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Future contrib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1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8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163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3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Quality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1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Curriculum input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9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6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1444752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DEVAI-01 Staff Bldr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5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Review workflow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63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Build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1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Mktg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8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Support tools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163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Ops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3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Dev capacity↑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1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Training material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9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6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700784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HARNESS-01 Svc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45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Reusable method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63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New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98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163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33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New revenue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51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69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6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Service definition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1956816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TRAIN-01 Teaching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45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Adoption feedback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63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1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Training to sell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98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163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33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Adoption revenue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51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Core delivery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69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6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212848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TENANT-01 SaaS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45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Tenant/config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63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81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Sellable base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98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Tenant reasoning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163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Config model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33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foundation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51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69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6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Config framework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2468880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BOHRCORP-01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645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to engineer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3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881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Sellable LMS/CRM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98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163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one-off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3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revenue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51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69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6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validation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2724912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ZAN-01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645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63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81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98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163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Admin modules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33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51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469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86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2980944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KIKU-01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645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763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81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998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63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Config platform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233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51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469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86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3236976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MARKET-01 GTM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645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Common package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63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881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Pricing, sales mat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98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Support model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63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33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GTM revenue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351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469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586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packaging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7 —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Current: 3 developers + 1 manager (not coding). Target: 6 developers. 4 project starts pushed Dec 2026 → Jan 2027.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1E1E"/>
                </a:solidFill>
              </a:defRPr>
            </a:pPr>
            <a:r>
              <a:t>📅 New hires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8688" y="1508760"/>
            <a:ext cx="1060704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Sep 2026</a:t>
            </a:r>
            <a:br/>
            <a:r>
              <a:t>Hire #1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508760"/>
            <a:ext cx="1060704" cy="50292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Apr 2027</a:t>
            </a:r>
            <a:br/>
            <a:r>
              <a:t>Hire #2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1508760"/>
            <a:ext cx="1060704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Jan 2028</a:t>
            </a:r>
            <a:br/>
            <a:r>
              <a:t>Hire 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945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1E1E"/>
                </a:solidFill>
              </a:defRPr>
            </a:pPr>
            <a:r>
              <a:t>👥 Team size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21408" y="219456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 developers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19456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 developers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194560"/>
            <a:ext cx="2157984" cy="3200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 developers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2194560"/>
            <a:ext cx="3255264" cy="3200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 developers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9748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1E1E"/>
                </a:solidFill>
              </a:defRPr>
            </a:pPr>
            <a:r>
              <a:t>📊 Workload vs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269748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~2, have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8688" y="2697480"/>
            <a:ext cx="106070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3+1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269748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13248" y="2697480"/>
            <a:ext cx="106070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2697480"/>
            <a:ext cx="106070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07808" y="2697480"/>
            <a:ext cx="1060704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~5, have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05088" y="2697480"/>
            <a:ext cx="3255264" cy="3200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291840"/>
            <a:ext cx="11247120" cy="329184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A237E"/>
                </a:solidFill>
              </a:defRPr>
            </a:pPr>
            <a:r>
              <a:t>Why These 3 Hires, Why These Dates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#1 — Sep 2026: </a:t>
            </a:r>
            <a:r>
              <a:rPr sz="1000">
                <a:solidFill>
                  <a:srgbClr val="1E1E1E"/>
                </a:solidFill>
              </a:rPr>
              <a:t>Sep-Dec has 5 active projects needing ~3 developers. With 3 existing + this hire ramping, we cover it.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#2 — Apr 2027: </a:t>
            </a:r>
            <a:r>
              <a:rPr sz="1000">
                <a:solidFill>
                  <a:srgbClr val="1E1E1E"/>
                </a:solidFill>
              </a:rPr>
              <a:t>Jan-Jun 2027 has 5 projects needing ~4 developers (3 large ones). Second hire absorbs governance support.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#3 — Jan 2028: </a:t>
            </a:r>
            <a:r>
              <a:rPr sz="1000">
                <a:solidFill>
                  <a:srgbClr val="1E1E1E"/>
                </a:solidFill>
              </a:rPr>
              <a:t>Jul-Dec 2028 adds SaaS foundation + Corp Bohr SaaS — 6 projects needing ~5 developers.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Schedule adjustment: </a:t>
            </a:r>
            <a:r>
              <a:rPr sz="1000">
                <a:solidFill>
                  <a:srgbClr val="1E1E1E"/>
                </a:solidFill>
              </a:rPr>
              <a:t>4 starts pushed Dec→Jan. 1-month slip on multi-year projects — minimal impact.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2E7D32"/>
                </a:solidFill>
              </a:rPr>
              <a:t>What to look for: </a:t>
            </a:r>
            <a:r>
              <a:rPr sz="1000">
                <a:solidFill>
                  <a:srgbClr val="1E1E1E"/>
                </a:solidFill>
              </a:rPr>
              <a:t>Solid dev fundamentals · Git/PR familiarity · Communication · Full-stack (Django/Go + Vue) · 2-4 years · Independent after 2-month training</a:t>
            </a:r>
          </a:p>
          <a:p>
            <a:r>
              <a:rPr sz="1000" b="1">
                <a:solidFill>
                  <a:srgbClr val="C62828"/>
                </a:solidFill>
              </a:rPr>
              <a:t>What's NOT required: </a:t>
            </a:r>
            <a:r>
              <a:rPr sz="1000">
                <a:solidFill>
                  <a:srgbClr val="1E1E1E"/>
                </a:solidFill>
              </a:rPr>
              <a:t>AI/ML expertise · Kubernetes/microservices · SaaS platform experience · Senior architect-level · Education industry knowledge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5 — WHAT THE CUSTOMER 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AI Harness = a private, tuned AI tool for the whole company. SaaS = a ready-to-use CRM/operations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486400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🤖 AI Harness Service</a:t>
            </a:r>
          </a:p>
          <a:p>
            <a:pPr>
              <a:spcAft>
                <a:spcPts val="1000"/>
              </a:spcAft>
              <a:defRPr sz="1000">
                <a:solidFill>
                  <a:srgbClr val="616161"/>
                </a:solidFill>
              </a:defRPr>
            </a:pPr>
            <a:r>
              <a:t>A tuned, private version of ChatGPT/Claude — built on the client's own data, running on their infrastructure, with governance. Everyone uses the same product for their own needs.</a:t>
            </a:r>
          </a:p>
          <a:p>
            <a:pPr>
              <a:spcAft>
                <a:spcPts val="400"/>
              </a:spcAft>
              <a:defRPr sz="1100" b="1">
                <a:solidFill>
                  <a:srgbClr val="1E1E1E"/>
                </a:solidFill>
              </a:defRPr>
            </a:pPr>
            <a:r>
              <a:t>What the client can do: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Everyone uses the same AI product — each dept for their own needs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Better than public AI: grounded in company data, privacy-controlled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Uses whatever data the company has — no special prep required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Acts like a tuned, easier-to-use version of ChatGPT/Claude/Gemini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Runs on company-controlled hardware — data never leaves the org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Training: workshops, manager briefings, governance playbooks</a:t>
            </a:r>
          </a:p>
          <a:p>
            <a:pPr>
              <a:spcBef>
                <a:spcPts val="600"/>
              </a:spcBef>
              <a:defRPr sz="800" i="1">
                <a:solidFill>
                  <a:srgbClr val="2E7D32"/>
                </a:solidFill>
              </a:defRPr>
            </a:pPr>
            <a:r>
              <a:t>Use cases: Sales (proposals, quotes) · Support (answers, escalation) · Operations (automation, reports) · Management (analytics, summaries)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51560"/>
            <a:ext cx="5486400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7B1FA2"/>
                </a:solidFill>
              </a:defRPr>
            </a:pPr>
            <a:r>
              <a:t>📦 SaaS / BaaS Product</a:t>
            </a:r>
          </a:p>
          <a:p>
            <a:pPr>
              <a:spcAft>
                <a:spcPts val="1000"/>
              </a:spcAft>
              <a:defRPr sz="1000">
                <a:solidFill>
                  <a:srgbClr val="616161"/>
                </a:solidFill>
              </a:defRPr>
            </a:pPr>
            <a:r>
              <a:t>A customizable CRM / operations platform — based on our internal apps (Zan, Kikuichimonji), configured for each client.</a:t>
            </a:r>
          </a:p>
          <a:p>
            <a:pPr>
              <a:spcAft>
                <a:spcPts val="400"/>
              </a:spcAft>
              <a:defRPr sz="1100" b="1">
                <a:solidFill>
                  <a:srgbClr val="1E1E1E"/>
                </a:solidFill>
              </a:defRPr>
            </a:pPr>
            <a:r>
              <a:t>What the client can do: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Zan: CRM / Sales Management — client management, negotiations, analytics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Kikuichimonji: Operations platform — customer, staff, contracts, scheduling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Customize features within defined boundaries (tenant config)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Multi-tenant isolation — data separate per client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Monthly subscription — no development cost on their side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Branded and configured for their organization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6492240"/>
            <a:ext cx="1124712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900" b="1">
                <a:solidFill>
                  <a:srgbClr val="1A237E"/>
                </a:solidFill>
              </a:rPr>
              <a:t>Key difference: </a:t>
            </a:r>
            <a:r>
              <a:rPr sz="900">
                <a:solidFill>
                  <a:srgbClr val="1E1E1E"/>
                </a:solidFill>
              </a:rPr>
              <a:t>AI Harness = private tuned AI tool for the company. SaaS = ready-to-use CRM/operations platform. Both from the same engineering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5 — WHAT THE CUSTOMER 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AI Harness = a private, tuned AI tool for the whole company. SaaS = a ready-to-use CRM/operations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486400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🤖 AI Harness Service</a:t>
            </a:r>
          </a:p>
          <a:p>
            <a:pPr>
              <a:spcAft>
                <a:spcPts val="1000"/>
              </a:spcAft>
              <a:defRPr sz="1000">
                <a:solidFill>
                  <a:srgbClr val="616161"/>
                </a:solidFill>
              </a:defRPr>
            </a:pPr>
            <a:r>
              <a:t>A tuned, private version of ChatGPT/Claude — built on the client's own data, running on their infrastructure, with governance. Everyone uses the same product for their own needs.</a:t>
            </a:r>
          </a:p>
          <a:p>
            <a:pPr>
              <a:spcAft>
                <a:spcPts val="400"/>
              </a:spcAft>
              <a:defRPr sz="1100" b="1">
                <a:solidFill>
                  <a:srgbClr val="1E1E1E"/>
                </a:solidFill>
              </a:defRPr>
            </a:pPr>
            <a:r>
              <a:t>What the client can do: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Everyone uses the same AI product — each dept for their own needs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Better than public AI: grounded in company data, privacy-controlled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Uses whatever data the company has — no special prep required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Acts like a tuned, easier-to-use version of ChatGPT/Claude/Gemini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Runs on company-controlled hardware — data never leaves the org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Training: workshops, manager briefings, governance playbooks</a:t>
            </a:r>
          </a:p>
          <a:p>
            <a:pPr>
              <a:spcBef>
                <a:spcPts val="600"/>
              </a:spcBef>
              <a:defRPr sz="800" i="1">
                <a:solidFill>
                  <a:srgbClr val="2E7D32"/>
                </a:solidFill>
              </a:defRPr>
            </a:pPr>
            <a:r>
              <a:t>Use cases: Sales (proposals, quotes) · Support (answers, escalation) · Operations (automation, reports) · Management (analytics, summaries)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51560"/>
            <a:ext cx="5486400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7B1FA2"/>
                </a:solidFill>
              </a:defRPr>
            </a:pPr>
            <a:r>
              <a:t>📦 SaaS / BaaS Product</a:t>
            </a:r>
          </a:p>
          <a:p>
            <a:pPr>
              <a:spcAft>
                <a:spcPts val="1000"/>
              </a:spcAft>
              <a:defRPr sz="1000">
                <a:solidFill>
                  <a:srgbClr val="616161"/>
                </a:solidFill>
              </a:defRPr>
            </a:pPr>
            <a:r>
              <a:t>A customizable CRM / operations platform — based on our internal apps (Zan, Kikuichimonji), configured for each client.</a:t>
            </a:r>
          </a:p>
          <a:p>
            <a:pPr>
              <a:spcAft>
                <a:spcPts val="400"/>
              </a:spcAft>
              <a:defRPr sz="1100" b="1">
                <a:solidFill>
                  <a:srgbClr val="1E1E1E"/>
                </a:solidFill>
              </a:defRPr>
            </a:pPr>
            <a:r>
              <a:t>What the client can do: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Zan: CRM / Sales Management — client management, negotiations, analytics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Kikuichimonji: Operations platform — customer, staff, contracts, scheduling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Customize features within defined boundaries (tenant config)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Multi-tenant isolation — data separate per client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Monthly subscription — no development cost on their side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Branded and configured for their organization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6492240"/>
            <a:ext cx="1124712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900" b="1">
                <a:solidFill>
                  <a:srgbClr val="1A237E"/>
                </a:solidFill>
              </a:rPr>
              <a:t>Key difference: </a:t>
            </a:r>
            <a:r>
              <a:rPr sz="900">
                <a:solidFill>
                  <a:srgbClr val="1E1E1E"/>
                </a:solidFill>
              </a:rPr>
              <a:t>AI Harness = private tuned AI tool for the company. SaaS = ready-to-use CRM/operations platform. Both from the same engineering 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6 — FINANCIAL SIMULATION (P&amp;L)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Revenue, cost, and profit projection 2026–2030+. All figures JPY. Pricing needs market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Revenue Projection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7432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32004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4904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Implementation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¥6.0M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7190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Retainer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¥0.9M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¥7.2M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¥14.4M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476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Training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¥0.5M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156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1762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SaaS — Setup + Monthly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¥0.8M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156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¥5.4M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2404872"/>
            <a:ext cx="27432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Total Revenue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¥3.9M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¥11.5M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156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¥27.3M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27432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Cost Projection (new costs only)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017520"/>
            <a:ext cx="27432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44" name="Rounded Rectangle 43"/>
          <p:cNvSpPr/>
          <p:nvPr/>
        </p:nvSpPr>
        <p:spPr>
          <a:xfrm>
            <a:off x="32004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580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156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327355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New developer salaries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¥1.8M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¥9.5M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156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350215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Hardware (one-time)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004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¥1.2M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580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5156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373075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AWS (additional)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580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868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5156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3959352"/>
            <a:ext cx="27432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OD Video savings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004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580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868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5156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4187952"/>
            <a:ext cx="27432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Zendesk reduction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004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8580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-¥0.07M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868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-¥0.14M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156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-¥0.18M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" y="4416552"/>
            <a:ext cx="27432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Net New Costs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92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¥6.8M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8580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¥13.5M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6868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156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Profit Simulation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" y="5029200"/>
            <a:ext cx="27432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87" name="Rounded Rectangle 86"/>
          <p:cNvSpPr/>
          <p:nvPr/>
        </p:nvSpPr>
        <p:spPr>
          <a:xfrm>
            <a:off x="32004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292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580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6868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5156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7200" y="528523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Total Revenue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004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292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8580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¥3.9M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6868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¥11.5M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5156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¥27.3M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7200" y="551383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Net New Costs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04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0292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¥6.8M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¥13.5M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6868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156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5742432"/>
            <a:ext cx="27432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Annual Profit/(Loss)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004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-¥3.0M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0292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-¥6.8M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8580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-¥9.6M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6868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-¥1.9M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5156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¥13.9M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7200" y="5971032"/>
            <a:ext cx="27432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Cumulative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004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-¥3.0M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0292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-¥9.8M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8580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-¥19.4M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6868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-¥21.3M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5156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-¥7.4M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6035040"/>
            <a:ext cx="11247120" cy="59436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000" b="1">
                <a:solidFill>
                  <a:srgbClr val="2E7D32"/>
                </a:solidFill>
              </a:rPr>
              <a:t>📈 Break-even: </a:t>
            </a:r>
            <a:r>
              <a:rPr sz="900">
                <a:solidFill>
                  <a:srgbClr val="1E1E1E"/>
                </a:solidFill>
              </a:rPr>
              <a:t>Annual profit positive in 2030+ (~¥13.9M/yr). Cumulative break-even ~2031 (¥7.4M deficit recovered at ¥13.9M/yr run rate). Investment period 2026–2029 (peak ~¥21.3M in 2029).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7200" y="66751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16161"/>
                </a:solidFill>
              </a:defRPr>
            </a:pPr>
            <a:r>
              <a:t>Calculation methodology: Revenue = clients × impl fee + retainer months × ¥300K + SaaS tenants × (¥100K/mo + ¥200K setup) + trainings × ¥500K. Costs = hire months × ¥450K + ¥1.2M AI HW + ¥240K/yr AWS - ¥2.88M/yr OD savings - Zendesk reduction. See HTML version for full calculation tables.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6 — FINANCIAL SIMULATION (P&amp;L)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Revenue, cost, and profit projection 2026–2030+. All figures JPY. Pricing needs market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Revenue Projection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7432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32004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0" y="123444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4904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Implementation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14904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¥6.0M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7190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Retainer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¥0.9M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¥7.2M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0" y="17190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¥14.4M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476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Training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¥0.5M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15600" y="19476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17627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SaaS — Setup + Monthly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¥0.8M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15600" y="217627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¥5.4M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2404872"/>
            <a:ext cx="27432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Total Revenue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¥3.9M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¥11.5M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15600" y="2404872"/>
            <a:ext cx="1828800" cy="201168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¥27.3M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27432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Cost Projection (new costs only)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017520"/>
            <a:ext cx="27432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44" name="Rounded Rectangle 43"/>
          <p:cNvSpPr/>
          <p:nvPr/>
        </p:nvSpPr>
        <p:spPr>
          <a:xfrm>
            <a:off x="32004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580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15600" y="301752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327355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New developer salaries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¥1.8M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¥9.5M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15600" y="32735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350215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Hardware (one-time)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004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¥1.2M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580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515600" y="35021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373075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AWS (additional)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580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868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515600" y="373075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3959352"/>
            <a:ext cx="27432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OD Video savings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004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580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868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515600" y="39593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4187952"/>
            <a:ext cx="27432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Zendesk reduction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004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8580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-¥0.07M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868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-¥0.14M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15600" y="4187952"/>
            <a:ext cx="1828800" cy="201168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-¥0.18M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" y="4416552"/>
            <a:ext cx="27432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Net New Costs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92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¥6.8M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8580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¥13.5M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6868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15600" y="4416552"/>
            <a:ext cx="1828800" cy="20116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Profit Simulation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" y="5029200"/>
            <a:ext cx="27432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87" name="Rounded Rectangle 86"/>
          <p:cNvSpPr/>
          <p:nvPr/>
        </p:nvSpPr>
        <p:spPr>
          <a:xfrm>
            <a:off x="32004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292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580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6868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515600" y="5029200"/>
            <a:ext cx="1828800" cy="256032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7200" y="5285232"/>
            <a:ext cx="27432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Total Revenue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004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292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8580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¥3.9M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6868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¥11.5M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515600" y="5285232"/>
            <a:ext cx="1828800" cy="201168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¥27.3M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7200" y="5513832"/>
            <a:ext cx="27432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Net New Costs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04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0292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¥6.8M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¥13.5M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6868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15600" y="5513832"/>
            <a:ext cx="1828800" cy="201168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5742432"/>
            <a:ext cx="27432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Annual Profit/(Loss)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004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-¥3.0M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0292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-¥6.8M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8580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-¥9.6M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6868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-¥1.9M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515600" y="5742432"/>
            <a:ext cx="1828800" cy="20116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¥13.9M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7200" y="5971032"/>
            <a:ext cx="27432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Cumulative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004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-¥3.0M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0292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-¥9.8M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8580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-¥19.4M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6868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-¥21.3M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515600" y="5971032"/>
            <a:ext cx="1828800" cy="201168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-¥7.4M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6035040"/>
            <a:ext cx="11247120" cy="59436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000" b="1">
                <a:solidFill>
                  <a:srgbClr val="2E7D32"/>
                </a:solidFill>
              </a:rPr>
              <a:t>📈 Break-even: </a:t>
            </a:r>
            <a:r>
              <a:rPr sz="900">
                <a:solidFill>
                  <a:srgbClr val="1E1E1E"/>
                </a:solidFill>
              </a:rPr>
              <a:t>Annual profit positive in 2030+ (~¥13.9M/yr). Cumulative break-even ~2031 (¥7.4M deficit recovered at ¥13.9M/yr run rate). Investment period 2026–2029 (peak ~¥21.3M in 2029).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7200" y="66751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16161"/>
                </a:solidFill>
              </a:defRPr>
            </a:pPr>
            <a:r>
              <a:t>Calculation methodology: Revenue = clients × impl fee + retainer months × ¥300K + SaaS tenants × (¥100K/mo + ¥200K setup) + trainings × ¥500K. Costs = hire months × ¥450K + ¥1.2M AI HW + ¥240K/yr AWS - ¥2.88M/yr OD savings - Zendesk reduction. See HTML version for full calculation tables.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