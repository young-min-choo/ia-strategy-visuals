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IA System Development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</a:defRPr>
            </a:pPr>
            <a:r>
              <a:t>Visual Roadmap 2026–2029+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</a:defRPr>
            </a:pPr>
            <a:r>
              <a:t>In-house AI Harness → External Service + SaaS/BaaS Product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90CAF9"/>
                </a:solidFill>
              </a:defRPr>
            </a:pPr>
            <a:r>
              <a:t>18 projects · 6 categories · 5 sections · Prepared for company-wide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1 — CURRENT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16161"/>
                </a:solidFill>
              </a:defRPr>
            </a:pPr>
            <a:r>
              <a:t>Today all six apps share one backend and one database. Reservation forms live in production only. Support knowledge is locked in Zendesk. No local AI, no SaaS foundation.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1097280" cy="3657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1E1E1E"/>
                </a:solidFill>
              </a:defRPr>
            </a:pPr>
            <a:r>
              <a:t>Bohr 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188720"/>
            <a:ext cx="1097280" cy="3657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1E1E1E"/>
                </a:solidFill>
              </a:defRPr>
            </a:pPr>
            <a:r>
              <a:t>Bohr Corp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1097280" cy="3657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1E1E1E"/>
                </a:solidFill>
              </a:defRPr>
            </a:pPr>
            <a:r>
              <a:t>Ind IAHP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188720"/>
            <a:ext cx="1097280" cy="3657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1E1E1E"/>
                </a:solidFill>
              </a:defRPr>
            </a:pPr>
            <a:r>
              <a:t>Corp IAHP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188720"/>
            <a:ext cx="1097280" cy="3657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1E1E1E"/>
                </a:solidFill>
              </a:defRPr>
            </a:pPr>
            <a:r>
              <a:t>Zan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188720"/>
            <a:ext cx="1097280" cy="3657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1E1E1E"/>
                </a:solidFill>
              </a:defRPr>
            </a:pPr>
            <a:r>
              <a:t>Kiku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00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↓ ↓ ↓ ↓ ↓ 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920240"/>
            <a:ext cx="3931920" cy="411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200" b="1">
                <a:solidFill>
                  <a:srgbClr val="1E1E1E"/>
                </a:solidFill>
              </a:defRPr>
            </a:pPr>
            <a:r>
              <a:t>member/backend (shared)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3774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↓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0" y="2697480"/>
            <a:ext cx="1371600" cy="1371600"/>
          </a:xfrm>
          <a:prstGeom prst="ellipse">
            <a:avLst/>
          </a:prstGeom>
          <a:solidFill>
            <a:srgbClr val="FFF9C4"/>
          </a:solidFill>
          <a:ln w="2540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1E1E1E"/>
                </a:solidFill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62828"/>
                </a:solidFill>
              </a:defRPr>
            </a:pPr>
            <a:r>
              <a:t>Key Issues with the Current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4114800" cy="3200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663440"/>
            <a:ext cx="7040880" cy="3200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83479"/>
            <a:ext cx="4114800" cy="3017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All apps share one backend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983479"/>
            <a:ext cx="7040880" cy="3017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One bug affects everything. Can't deploy independently.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03519"/>
            <a:ext cx="41148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No source control on forms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5303519"/>
            <a:ext cx="704088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Production-only risk. No rollback. Can't review safely.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623559"/>
            <a:ext cx="4114800" cy="3017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Support knowledge in Zendesk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5623559"/>
            <a:ext cx="7040880" cy="3017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Can't reuse in AI. Vendor dependency.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943599"/>
            <a:ext cx="41148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OD video = 10h per lesson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5943599"/>
            <a:ext cx="704088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Only ~6/month vs desired ~24. Manual bottleneck.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263640"/>
            <a:ext cx="4114800" cy="3017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No local AI capability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6263640"/>
            <a:ext cx="7040880" cy="3017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Depends on external APIs or personal machines.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583679"/>
            <a:ext cx="41148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No SaaS foundation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6583679"/>
            <a:ext cx="704088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Can't sell as platforms. Every client is a one-off fork.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2 — THE IDEAL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16161"/>
                </a:solidFill>
              </a:defRPr>
            </a:pPr>
            <a:r>
              <a:t>Two parallel revenue paths from one engineering foundation: AI Harness service + SaaS/BaaS products + 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3474720" cy="1828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0" bIns="27432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🤖 AI Harness Service</a:t>
            </a:r>
          </a:p>
          <a:p>
            <a:pPr algn="l"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In-house AI harness → client implementation service with training</a:t>
            </a:r>
          </a:p>
          <a:p>
            <a:pPr algn="l"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Revenue-ready: H2 2028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051560"/>
            <a:ext cx="3474720" cy="18288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0" bIns="27432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📦 SaaS / BaaS Products</a:t>
            </a:r>
          </a:p>
          <a:p>
            <a:pPr algn="l"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Separate backends → SaaSify Corp Bohr → Zan → Kiku as platforms</a:t>
            </a:r>
          </a:p>
          <a:p>
            <a:pPr algn="l"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First MVP: H2 2028 · GTM: 2029+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051560"/>
            <a:ext cx="3474720" cy="18288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37160" bIns="27432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🎓 Training &amp; Enablement</a:t>
            </a:r>
          </a:p>
          <a:p>
            <a:pPr algn="l"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Workshops, briefings, playbooks for client adoption</a:t>
            </a:r>
          </a:p>
          <a:p>
            <a:pPr algn="l"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Pilot: 2029+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37E"/>
                </a:solidFill>
              </a:defRPr>
            </a:pPr>
            <a:r>
              <a:t>Target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1371600" cy="320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1E1E1E"/>
                </a:solidFill>
              </a:defRPr>
            </a:pPr>
            <a:r>
              <a:t>Bohr Ind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3383280"/>
            <a:ext cx="1371600" cy="320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1E1E1E"/>
                </a:solidFill>
              </a:defRPr>
            </a:pPr>
            <a:r>
              <a:t>Bohr Corp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383280"/>
            <a:ext cx="1371600" cy="320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1E1E1E"/>
                </a:solidFill>
              </a:defRPr>
            </a:pPr>
            <a:r>
              <a:t>Ind IAHP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383280"/>
            <a:ext cx="1371600" cy="320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1E1E1E"/>
                </a:solidFill>
              </a:defRPr>
            </a:pPr>
            <a:r>
              <a:t>Corp IAHP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383280"/>
            <a:ext cx="1371600" cy="320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1E1E1E"/>
                </a:solidFill>
              </a:defRPr>
            </a:pPr>
            <a:r>
              <a:t>Zan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383280"/>
            <a:ext cx="1371600" cy="320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1E1E1E"/>
                </a:solidFill>
              </a:defRPr>
            </a:pPr>
            <a:r>
              <a:t>Kiku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94760"/>
            <a:ext cx="137160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Bohr Ind</a:t>
            </a:r>
            <a:br/>
            <a:r>
              <a:t>Backend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3794760"/>
            <a:ext cx="137160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Bohr Corp</a:t>
            </a:r>
            <a:br/>
            <a:r>
              <a:t>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794760"/>
            <a:ext cx="137160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Ind IAHP</a:t>
            </a:r>
            <a:br/>
            <a:r>
              <a:t>Backend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3794760"/>
            <a:ext cx="137160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Corp IAHP</a:t>
            </a:r>
            <a:br/>
            <a:r>
              <a:t>Backend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94760"/>
            <a:ext cx="137160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Zan</a:t>
            </a:r>
            <a:br/>
            <a:r>
              <a:t>Backend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794760"/>
            <a:ext cx="137160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Kiku</a:t>
            </a:r>
            <a:br/>
            <a: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206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16161"/>
                </a:solidFill>
              </a:defRPr>
            </a:pPr>
            <a: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805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Shared Handlers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54880"/>
            <a:ext cx="1463040" cy="301752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1E1E1E"/>
                </a:solidFill>
              </a:defRPr>
            </a:pPr>
            <a:r>
              <a:t>Content Handler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754880"/>
            <a:ext cx="1463040" cy="301752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1E1E1E"/>
                </a:solidFill>
              </a:defRPr>
            </a:pPr>
            <a:r>
              <a:t>Event Handler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120640"/>
            <a:ext cx="1463040" cy="301752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1E1E1E"/>
                </a:solidFill>
              </a:defRPr>
            </a:pPr>
            <a:r>
              <a:t>File Handler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0320" y="5120640"/>
            <a:ext cx="1463040" cy="301752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1E1E1E"/>
                </a:solidFill>
              </a:defRPr>
            </a:pPr>
            <a:r>
              <a:t>Database Handler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57C00"/>
                </a:solidFill>
              </a:defRPr>
            </a:pPr>
            <a:r>
              <a:t>PLAT-01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805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A1B9A"/>
                </a:solidFill>
              </a:defRPr>
            </a:pPr>
            <a:r>
              <a:t>Knowledge / AI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4754880"/>
            <a:ext cx="4389120" cy="30175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1E1E1E"/>
                </a:solidFill>
              </a:defRPr>
            </a:pPr>
            <a:r>
              <a:t>IAGPT Knowledge 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5120640"/>
            <a:ext cx="1371600" cy="36576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Customer AI</a:t>
            </a:r>
            <a:br/>
            <a:r>
              <a:t>(IAGPT-04)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5120640"/>
            <a:ext cx="1371600" cy="36576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Digital Text</a:t>
            </a:r>
            <a:br/>
            <a:r>
              <a:t>(IAGPT-03)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5120640"/>
            <a:ext cx="1371600" cy="36576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Zendesk</a:t>
            </a:r>
            <a:br/>
            <a:r>
              <a:t>(IAGPT-02)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5577840"/>
            <a:ext cx="4389120" cy="2743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1E1E1E"/>
                </a:solidFill>
              </a:defRPr>
            </a:pPr>
            <a:r>
              <a:t>Local AI Hardware (AI-01)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Multi-Tenant SaaS Layer (2028+): TENANT-01 → BOHRCORP-01 → ZAN-01 → KIKU-01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</a:defRPr>
            </a:pPr>
            <a:r>
              <a:t>2b — How Each Issue Gets Solved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274320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822960"/>
            <a:ext cx="25603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Solved by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822960"/>
            <a:ext cx="576072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743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Shared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143000"/>
            <a:ext cx="256032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APP-SEP-01, PLAT-01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143000"/>
            <a:ext cx="576072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Each app gets its own backend + shared handlers. Independent deployment and ownership.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2743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Reservation form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645920"/>
            <a:ext cx="2560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IAHP-01, IAHP-02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645920"/>
            <a:ext cx="57607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Forms move to source control. Review, rollback, safe design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48840"/>
            <a:ext cx="2743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Vendor-hosted knowledge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148840"/>
            <a:ext cx="256032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IAGPT-02, IAGPT-03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148840"/>
            <a:ext cx="576072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Support + curriculum knowledge moves into IA-controlled knowledge base.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51760"/>
            <a:ext cx="2743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OD video bottleneck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651760"/>
            <a:ext cx="2560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AI-01, AI-02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651760"/>
            <a:ext cx="57607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Local AI hardware + automated OD pipeline. 6→24 lessons/month.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54680"/>
            <a:ext cx="2743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No local AI / staff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154680"/>
            <a:ext cx="256032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AI-01, DEVAI-01, GOV-01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154680"/>
            <a:ext cx="576072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Local hardware + staff app builder + PR governance. Staff build, engineers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57600"/>
            <a:ext cx="2743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C62828"/>
                </a:solidFill>
              </a:defRPr>
            </a:pPr>
            <a:r>
              <a:t>No SaaS foundation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657600"/>
            <a:ext cx="2560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TENANT-01, BOHRCORP-01, ZAN-01, KIKU-01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657600"/>
            <a:ext cx="57607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Multi-tenant model + per-product SaaSification. Sellable platforms, not forks.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3 — BENEFITS TO THE COMPANY &amp; DEPARTMENTS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237E"/>
                </a:solidFill>
              </a:defRPr>
            </a:pPr>
            <a:r>
              <a:t>In the ideal situation, each department gets: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566160" cy="24688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1A237E"/>
                </a:solidFill>
              </a:defRPr>
            </a:pPr>
            <a:r>
              <a:t>System Dev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Clear app boundaries, ownership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Shared APIs — less duplicate work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Scalable AI contributions + governance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Reusable methods for client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39" y="1097280"/>
            <a:ext cx="3566160" cy="24688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1A237E"/>
                </a:solidFill>
              </a:defRPr>
            </a:pPr>
            <a:r>
              <a:t>Curriculum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6→24 OD lessons/month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Local AI testing environment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Curriculum in searchable KB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Build tools without eng bandwidth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8" y="1097280"/>
            <a:ext cx="3566160" cy="24688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1A237E"/>
                </a:solidFill>
              </a:defRPr>
            </a:pPr>
            <a:r>
              <a:t>Marketing/Sales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Reliable lead funnel — less risk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More content for lead gen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New services to sell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Pricing &amp; sales materials packaged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40"/>
            <a:ext cx="3566160" cy="24688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1A237E"/>
                </a:solidFill>
              </a:defRPr>
            </a:pPr>
            <a:r>
              <a:t>Support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Search approved answers in IAGPT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Grounded answers from curriculum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Less repetitive load — escalation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Build support tools locally with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39" y="3749040"/>
            <a:ext cx="3566160" cy="24688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1A237E"/>
                </a:solidFill>
              </a:defRPr>
            </a:pPr>
            <a:r>
              <a:t>Operations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Stable reservations — source control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Clearer corporate inquiry ownership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Less cross-product risk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Configurable admin platform (long-term)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8" y="3749040"/>
            <a:ext cx="3566160" cy="24688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1A237E"/>
                </a:solidFill>
              </a:defRPr>
            </a:pPr>
            <a:r>
              <a:t>Management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New revenue: AI Harness + SaaS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Evidence-based architecture decisions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Quality/risk control on AI dev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• Clear staffing plan — 3 hires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4a — Timeline: When Each Project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16161"/>
                </a:solidFill>
              </a:defRPr>
            </a:pPr>
            <a:r>
              <a:t>Each bar shows active months. Labels show dependencies (→ depends on, ⊢ blocks)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05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A237E"/>
                </a:solidFill>
              </a:defRPr>
            </a:pPr>
            <a:r>
              <a:t>'26 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05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16161"/>
                </a:solidFill>
              </a:defRPr>
            </a:pPr>
            <a:r>
              <a:t>'26 H2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005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A237E"/>
                </a:solidFill>
              </a:defRPr>
            </a:pPr>
            <a:r>
              <a:t>'27 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005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16161"/>
                </a:solidFill>
              </a:defRPr>
            </a:pPr>
            <a:r>
              <a:t>'27 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005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A237E"/>
                </a:solidFill>
              </a:defRPr>
            </a:pPr>
            <a:r>
              <a:t>'28 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005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16161"/>
                </a:solidFill>
              </a:defRPr>
            </a:pPr>
            <a:r>
              <a:t>'28 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005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A237E"/>
                </a:solidFill>
              </a:defRPr>
            </a:pPr>
            <a:r>
              <a:t>'29 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005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16161"/>
                </a:solidFill>
              </a:defRPr>
            </a:pPr>
            <a:r>
              <a:t>'29 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1005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A237E"/>
                </a:solidFill>
              </a:defRPr>
            </a:pPr>
            <a:r>
              <a:t>2029+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E1E1E"/>
                </a:solidFill>
              </a:defRPr>
            </a:pPr>
            <a:r>
              <a:t>1A AI Infra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21408" y="1389888"/>
            <a:ext cx="2157984" cy="20116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AI-01 Local AI Env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21408" y="1664208"/>
            <a:ext cx="2157984" cy="20116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AI-02 OD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488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E1E1E"/>
                </a:solidFill>
              </a:defRPr>
            </a:pPr>
            <a:r>
              <a:t>1B Reservation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21408" y="2167128"/>
            <a:ext cx="1060704" cy="201168"/>
          </a:xfrm>
          <a:prstGeom prst="round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IAHP-01 Ind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18688" y="2167128"/>
            <a:ext cx="1060704" cy="201168"/>
          </a:xfrm>
          <a:prstGeom prst="round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IAHP-02 Corp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E1E1E"/>
                </a:solidFill>
              </a:defRPr>
            </a:pPr>
            <a:r>
              <a:t>1C Knowledge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21408" y="2944368"/>
            <a:ext cx="1060704" cy="201168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IAGPT-02 Zendesk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18688" y="2944368"/>
            <a:ext cx="1060704" cy="201168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IAGPT-03 Dig.Text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18688" y="3218688"/>
            <a:ext cx="2157984" cy="201168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IAGPT-04 Cust.AI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033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E1E1E"/>
                </a:solidFill>
              </a:defRPr>
            </a:pPr>
            <a:r>
              <a:t>2A-C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21408" y="3721608"/>
            <a:ext cx="2157984" cy="20116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ARCH-01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18688" y="3995928"/>
            <a:ext cx="5449824" cy="20116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PLAT-01 Handlers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18688" y="4270248"/>
            <a:ext cx="8741664" cy="20116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APP-SEP-01 Separation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805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E1E1E"/>
                </a:solidFill>
              </a:defRPr>
            </a:pPr>
            <a:r>
              <a:t>3A-D AI-First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18688" y="4498848"/>
            <a:ext cx="2157984" cy="20116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GOV-01 Governance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4773168"/>
            <a:ext cx="4352544" cy="20116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DEVAI-01 Staff Bldr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07808" y="5047488"/>
            <a:ext cx="4352544" cy="20116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HARNESS-01 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99648" y="5321808"/>
            <a:ext cx="1060704" cy="20116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TRAIN-01 Teaching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57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E1E1E"/>
                </a:solidFill>
              </a:defRPr>
            </a:pPr>
            <a:r>
              <a:t>4A-E SaaS/BaaS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0528" y="5276088"/>
            <a:ext cx="4352544" cy="20116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TENANT-01 SaaS Base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07808" y="5550408"/>
            <a:ext cx="4352544" cy="20116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BOHRCORP-01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99648" y="5824728"/>
            <a:ext cx="1060704" cy="20116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ZAN-01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99648" y="6099048"/>
            <a:ext cx="1060704" cy="20116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KIKU-01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899648" y="6373368"/>
            <a:ext cx="1060704" cy="20116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MARKET-01 GTM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4b — Dependency Chain: How Projects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16161"/>
                </a:solidFill>
              </a:defRPr>
            </a:pPr>
            <a:r>
              <a:t>Foundation → Internal Capability → External Revenue. Two paths converge at GTM.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37E"/>
                </a:solidFill>
              </a:defRPr>
            </a:pPr>
            <a:r>
              <a:t>PHASE 1 — Foundation (2026)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2367" y="1325880"/>
            <a:ext cx="2286000" cy="7772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</a:t>
            </a:r>
            <a:br/>
            <a:r>
              <a:t>AI-01</a:t>
            </a:r>
            <a:br/>
            <a:r>
              <a:t>Local AI HW</a:t>
            </a:r>
            <a:br/>
            <a:r>
              <a:t>Compute env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8367" y="160477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2687" y="1325880"/>
            <a:ext cx="2286000" cy="7772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</a:t>
            </a:r>
            <a:br/>
            <a:r>
              <a:t>AI-02</a:t>
            </a:r>
            <a:br/>
            <a:r>
              <a:t>OD Video</a:t>
            </a:r>
            <a:br/>
            <a:r>
              <a:t>6→24/mo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8687" y="160477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325880"/>
            <a:ext cx="2286000" cy="7772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</a:t>
            </a:r>
            <a:br/>
            <a:r>
              <a:t>IAGPT 02→04</a:t>
            </a:r>
            <a:br/>
            <a:r>
              <a:t>Knowledge</a:t>
            </a:r>
            <a:br/>
            <a:r>
              <a:t>Zendesk→AI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9007" y="160477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3327" y="1325880"/>
            <a:ext cx="2286000" cy="777240"/>
          </a:xfrm>
          <a:prstGeom prst="round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</a:t>
            </a:r>
            <a:br/>
            <a:r>
              <a:t>IAHP 01→02</a:t>
            </a:r>
            <a:br/>
            <a:r>
              <a:t>Reservation</a:t>
            </a:r>
            <a:br/>
            <a:r>
              <a:t>Source ctrl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7C00"/>
                </a:solidFill>
              </a:defRPr>
            </a:pPr>
            <a:r>
              <a:t>PHASE 2 — Architecture (2026–2029+)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92527" y="2606040"/>
            <a:ext cx="2286000" cy="7772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</a:t>
            </a:r>
            <a:br/>
            <a:r>
              <a:t>ARCH-01</a:t>
            </a:r>
            <a:br/>
            <a:r>
              <a:t>Boundaries</a:t>
            </a:r>
            <a:br/>
            <a:r>
              <a:t>Map 6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527" y="288493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2847" y="2606040"/>
            <a:ext cx="2286000" cy="7772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6</a:t>
            </a:r>
            <a:br/>
            <a:r>
              <a:t>PLAT-01</a:t>
            </a:r>
            <a:br/>
            <a:r>
              <a:t>Handlers</a:t>
            </a:r>
            <a:br/>
            <a:r>
              <a:t>Shared svc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847" y="288493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13167" y="2606040"/>
            <a:ext cx="2286000" cy="7772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7</a:t>
            </a:r>
            <a:br/>
            <a:r>
              <a:t>APP-SEP-01</a:t>
            </a:r>
            <a:br/>
            <a:r>
              <a:t>Separation</a:t>
            </a:r>
            <a:br/>
            <a:r>
              <a:t>6 backends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7D32"/>
                </a:solidFill>
              </a:defRPr>
            </a:pPr>
            <a:r>
              <a:t>PHASE 3 — Two Revenue Paths (2027–2029+)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77639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PATH A: AI Harness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3827" y="4251960"/>
            <a:ext cx="2194560" cy="685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8a</a:t>
            </a:r>
            <a:br/>
            <a:r>
              <a:t>GOV-01</a:t>
            </a:r>
            <a:br/>
            <a:r>
              <a:t>Governance</a:t>
            </a:r>
            <a:br/>
            <a:r>
              <a:t>CI, 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8387" y="448513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86987" y="4251960"/>
            <a:ext cx="2194560" cy="685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9a</a:t>
            </a:r>
            <a:br/>
            <a:r>
              <a:t>DEVAI-01</a:t>
            </a:r>
            <a:br/>
            <a:r>
              <a:t>Staff Bldr</a:t>
            </a:r>
            <a:br/>
            <a:r>
              <a:t>Build→PR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1547" y="448513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0147" y="4251960"/>
            <a:ext cx="2194560" cy="685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10a</a:t>
            </a:r>
            <a:br/>
            <a:r>
              <a:t>HARNESS</a:t>
            </a:r>
            <a:br/>
            <a:r>
              <a:t>Service Pkg</a:t>
            </a:r>
            <a:br/>
            <a:r>
              <a:t>Templates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4707" y="448513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33307" y="4251960"/>
            <a:ext cx="2194560" cy="685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11a</a:t>
            </a:r>
            <a:br/>
            <a:r>
              <a:t>TRAIN-01</a:t>
            </a:r>
            <a:br/>
            <a:r>
              <a:t>Teaching</a:t>
            </a:r>
            <a:br/>
            <a:r>
              <a:t>Workshops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74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PATH B: SaaS / BaaS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63827" y="5349240"/>
            <a:ext cx="2194560" cy="6858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8b</a:t>
            </a:r>
            <a:br/>
            <a:r>
              <a:t>TENANT-01</a:t>
            </a:r>
            <a:br/>
            <a:r>
              <a:t>SaaS Base</a:t>
            </a:r>
            <a:br/>
            <a:r>
              <a:t>Multi-tenant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8387" y="558241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86987" y="5349240"/>
            <a:ext cx="2194560" cy="6858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9b</a:t>
            </a:r>
            <a:br/>
            <a:r>
              <a:t>BOHRCORP</a:t>
            </a:r>
            <a:br/>
            <a:r>
              <a:t>Corp Bohr</a:t>
            </a:r>
            <a:br/>
            <a:r>
              <a:t>LMS/CRM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1547" y="558241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0147" y="5349240"/>
            <a:ext cx="2194560" cy="6858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10b</a:t>
            </a:r>
            <a:br/>
            <a:r>
              <a:t>ZAN/KIKU</a:t>
            </a:r>
            <a:br/>
            <a:r>
              <a:t>More SaaS</a:t>
            </a:r>
            <a:br/>
            <a:r>
              <a:t>Expand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4707" y="558241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16161"/>
                </a:solidFill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33307" y="5349240"/>
            <a:ext cx="2194560" cy="6858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11b</a:t>
            </a:r>
            <a:br/>
            <a:r>
              <a:t>MARKET-01</a:t>
            </a:r>
            <a:br/>
            <a:r>
              <a:t>GTM</a:t>
            </a:r>
            <a:br/>
            <a:r>
              <a:t>Sales mat.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16161"/>
                </a:solidFill>
              </a:defRPr>
            </a:pPr>
            <a:r>
              <a:t>↑ Both paths converge at MARKET-01 — unified go-to-market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</a:defRPr>
            </a:pPr>
            <a:r>
              <a:t>3b — Per-Project Benefits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16161"/>
                </a:solidFill>
              </a:defRPr>
            </a:pPr>
            <a:r>
              <a:t>Green ● = strong · Yellow ● = moderate · Blue ● = indirect · — = none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118872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Sys Dev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35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Curric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11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Mktg/Sales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87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63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39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Mgmt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91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867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Prod Owners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188720"/>
            <a:ext cx="11887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AI-01 Local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Shared AI env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35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Local AI 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11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Faster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87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Future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63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39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Less ext 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15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91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867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1444752"/>
            <a:ext cx="118872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AI-02 OD Video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Pipeline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635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6→24/mo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11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More leads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987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Faster refresh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163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339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4x throughput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515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91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867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700784"/>
            <a:ext cx="11887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IAHP-01 Ind Mig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459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Source control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635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11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Reliable funnel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987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163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Stable ops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339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Risk reduction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515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691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Design review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867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1956816"/>
            <a:ext cx="118872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IAHP-02 Corp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459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Controlled form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635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811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Corp intake stable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987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163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Clearer ownership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339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Risk reduction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515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691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867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2212848"/>
            <a:ext cx="11887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IAGPT-02 Zendesk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459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IA knowledge base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635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811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987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Search answers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163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339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Less vendor dep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515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691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5867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2468880"/>
            <a:ext cx="118872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IAGPT-03 Dig.Text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6459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Knowledge pipeline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7635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Curriculum in KB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811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9987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Grounded answers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163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339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Asset value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515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691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5867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2724912"/>
            <a:ext cx="11887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IAGPT-04 Cust.AI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6459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AI channel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7635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8811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Support channel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9987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Less repetitive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163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2339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Cost reduction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515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4691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5867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2980944"/>
            <a:ext cx="118872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ARCH-01 Boundaries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6459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Clear ownership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7635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8811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9987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163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Fewer regressions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2339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Evidence-based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515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4691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5867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Clear boundaries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7200" y="3236976"/>
            <a:ext cx="11887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PLAT-01 Handlers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6459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Shared APIs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7635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8811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9987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1163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Stable behavior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339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Reusability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3515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4691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5867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Easier custom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57200" y="3493008"/>
            <a:ext cx="118872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APP-SEP-01 Sep.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645920" y="3493008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App ownership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763520" y="3493008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Product-specific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881120" y="3493008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Product features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998720" y="3493008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116320" y="3493008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Less cross-risk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233920" y="3493008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Marketable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351520" y="3493008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469120" y="3493008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0586720" y="3493008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Indep. ownership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</a:defRPr>
            </a:pPr>
            <a:r>
              <a:t>3b — Per-Project Benefits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16161"/>
                </a:solidFill>
              </a:defRPr>
            </a:pPr>
            <a:r>
              <a:t>Green ● = strong · Yellow ● = moderate · Blue ● = indirect · — = none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118872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Sys Dev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35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Curric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11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Mktg/Sales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87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63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39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Mgmt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91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86720" y="914400"/>
            <a:ext cx="1117600" cy="274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Prod Owners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188720"/>
            <a:ext cx="11887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GOV-01 PR Gov.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Scalable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35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Future contrib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11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87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63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39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Quality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15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Curriculum input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91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86720" y="1188720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1444752"/>
            <a:ext cx="118872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DEVAI-01 Staff Bldr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Review 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635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Build tools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11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Mktg tools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987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Support tools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163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Ops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339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Dev capacity↑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515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Training material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91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86720" y="1444752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700784"/>
            <a:ext cx="11887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HARNESS-01 Svc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459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Reusable method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635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11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New service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987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163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339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New revenue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515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691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86720" y="1700784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Service definition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1956816"/>
            <a:ext cx="118872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TRAIN-01 Teaching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459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Adoption feedback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635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811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Training to sell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987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163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339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Adoption revenue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515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Core delivery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691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86720" y="1956816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2212848"/>
            <a:ext cx="11887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TENANT-01 SaaS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459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Tenant/config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635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811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Sellable base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987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Tenant reasoning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163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Config model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339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SaaS foundation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515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691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586720" y="2212848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Config framework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2468880"/>
            <a:ext cx="118872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BOHRCORP-01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6459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SaaS to engineer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7635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811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Sellable LMS/CRM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9987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163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Less one-off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339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Product revenue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515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691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586720" y="2468880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Product validation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2724912"/>
            <a:ext cx="11887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ZAN-01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6459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SaaS candidate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7635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8811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Sales product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9987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163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Admin modules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2339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Revenue option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515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4691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586720" y="2724912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Product discovery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2980944"/>
            <a:ext cx="118872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KIKU-01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6459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SaaS candidate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7635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8811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Sales product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9987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163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Config platform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2339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Revenue option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515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4691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586720" y="2980944"/>
            <a:ext cx="1117600" cy="25603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Product discovery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7200" y="3236976"/>
            <a:ext cx="11887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1E1E1E"/>
                </a:solidFill>
              </a:defRPr>
            </a:pPr>
            <a:r>
              <a:t>MARKET-01 GTM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6459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Common package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7635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8811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Pricing, sales mat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9987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Support model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1163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339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GTM revenue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3515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4691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— 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586720" y="3236976"/>
            <a:ext cx="1117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600" b="0">
                <a:solidFill>
                  <a:srgbClr val="1E1E1E"/>
                </a:solidFill>
              </a:defRPr>
            </a:pPr>
            <a:r>
              <a:t>● Product packaging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5 — HIRING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16161"/>
                </a:solidFill>
              </a:defRPr>
            </a:pPr>
            <a:r>
              <a:t>Current: 3 developers + 1 manager (not coding). Target: 6 developers. 4 project starts pushed Dec 2026 → Jan 2027.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A237E"/>
                </a:solidFill>
              </a:defRPr>
            </a:pPr>
            <a:r>
              <a:t>'26 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16161"/>
                </a:solidFill>
              </a:defRPr>
            </a:pPr>
            <a:r>
              <a:t>'26 H2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A237E"/>
                </a:solidFill>
              </a:defRPr>
            </a:pPr>
            <a:r>
              <a:t>'27 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16161"/>
                </a:solidFill>
              </a:defRPr>
            </a:pPr>
            <a:r>
              <a:t>'27 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A237E"/>
                </a:solidFill>
              </a:defRPr>
            </a:pPr>
            <a:r>
              <a:t>'28 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16161"/>
                </a:solidFill>
              </a:defRPr>
            </a:pPr>
            <a:r>
              <a:t>'28 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A237E"/>
                </a:solidFill>
              </a:defRPr>
            </a:pPr>
            <a:r>
              <a:t>'29 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16161"/>
                </a:solidFill>
              </a:defRPr>
            </a:pPr>
            <a:r>
              <a:t>'29 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A237E"/>
                </a:solidFill>
              </a:defRPr>
            </a:pPr>
            <a:r>
              <a:t>2029+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5087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1E1E"/>
                </a:solidFill>
              </a:defRPr>
            </a:pPr>
            <a:r>
              <a:t>📅 New hires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8688" y="1508760"/>
            <a:ext cx="1060704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Sep 2026</a:t>
            </a:r>
            <a:br/>
            <a:r>
              <a:t>Hire #1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508760"/>
            <a:ext cx="1060704" cy="502920"/>
          </a:xfrm>
          <a:prstGeom prst="round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Apr 2027</a:t>
            </a:r>
            <a:br/>
            <a:r>
              <a:t>Hire #2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0528" y="1508760"/>
            <a:ext cx="1060704" cy="50292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Jan 2028</a:t>
            </a:r>
            <a:br/>
            <a:r>
              <a:t>Hire 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1945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1E1E"/>
                </a:solidFill>
              </a:defRPr>
            </a:pPr>
            <a:r>
              <a:t>👥 Team size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21408" y="2194560"/>
            <a:ext cx="2157984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 developers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2194560"/>
            <a:ext cx="2157984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 developers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0528" y="2194560"/>
            <a:ext cx="2157984" cy="3200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 developers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5088" y="2194560"/>
            <a:ext cx="3255264" cy="3200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6 developers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9748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1E1E"/>
                </a:solidFill>
              </a:defRPr>
            </a:pPr>
            <a:r>
              <a:t>📊 Workload vs team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21408" y="2697480"/>
            <a:ext cx="2157984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Need ~2, have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18688" y="2697480"/>
            <a:ext cx="1060704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Need ~3, have 3+1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5968" y="2697480"/>
            <a:ext cx="2157984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Need ~4, have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13248" y="2697480"/>
            <a:ext cx="1060704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Need ~3, have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2697480"/>
            <a:ext cx="1060704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Need ~4, have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07808" y="2697480"/>
            <a:ext cx="1060704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Need ~5, have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05088" y="2697480"/>
            <a:ext cx="3255264" cy="3200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Need ~4, have 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291840"/>
            <a:ext cx="11247120" cy="329184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A237E"/>
                </a:solidFill>
              </a:defRPr>
            </a:pPr>
            <a:r>
              <a:t>Why These 3 Hires, Why These Dates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A237E"/>
                </a:solidFill>
              </a:rPr>
              <a:t>Hire #1 — Sep 2026: </a:t>
            </a:r>
            <a:r>
              <a:rPr sz="1000">
                <a:solidFill>
                  <a:srgbClr val="1E1E1E"/>
                </a:solidFill>
              </a:rPr>
              <a:t>Sep-Dec has 5 active projects needing ~3 developers. With 3 existing + this hire ramping, we cover it.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A237E"/>
                </a:solidFill>
              </a:rPr>
              <a:t>Hire #2 — Apr 2027: </a:t>
            </a:r>
            <a:r>
              <a:rPr sz="1000">
                <a:solidFill>
                  <a:srgbClr val="1E1E1E"/>
                </a:solidFill>
              </a:rPr>
              <a:t>Jan-Jun 2027 has 5 projects needing ~4 developers (3 large ones). Second hire absorbs governance support.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A237E"/>
                </a:solidFill>
              </a:rPr>
              <a:t>Hire #3 — Jan 2028: </a:t>
            </a:r>
            <a:r>
              <a:rPr sz="1000">
                <a:solidFill>
                  <a:srgbClr val="1E1E1E"/>
                </a:solidFill>
              </a:rPr>
              <a:t>Jul-Dec 2028 adds SaaS foundation + Corp Bohr SaaS — 6 projects needing ~5 developers.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A237E"/>
                </a:solidFill>
              </a:rPr>
              <a:t>Schedule adjustment: </a:t>
            </a:r>
            <a:r>
              <a:rPr sz="1000">
                <a:solidFill>
                  <a:srgbClr val="1E1E1E"/>
                </a:solidFill>
              </a:rPr>
              <a:t>4 starts pushed Dec→Jan. 1-month slip on multi-year projects — minimal impact.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E7D32"/>
                </a:solidFill>
              </a:rPr>
              <a:t>What to look for: </a:t>
            </a:r>
            <a:r>
              <a:rPr sz="1000">
                <a:solidFill>
                  <a:srgbClr val="1E1E1E"/>
                </a:solidFill>
              </a:rPr>
              <a:t>Solid dev fundamentals · Git/PR familiarity · Communication · Full-stack (Django/Go + Vue) · 2-4 years · Independent after 2-month training</a:t>
            </a:r>
          </a:p>
          <a:p>
            <a:r>
              <a:rPr sz="1000" b="1">
                <a:solidFill>
                  <a:srgbClr val="C62828"/>
                </a:solidFill>
              </a:rPr>
              <a:t>What's NOT required: </a:t>
            </a:r>
            <a:r>
              <a:rPr sz="1000">
                <a:solidFill>
                  <a:srgbClr val="1E1E1E"/>
                </a:solidFill>
              </a:rPr>
              <a:t>AI/ML expertise · Kubernetes/microservices · SaaS platform experience · Senior architect-level · Education industry knowledge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