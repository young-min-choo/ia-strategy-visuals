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IA System Development Strategy — Visual Roadmap 2026–2029+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BDEFB"/>
                </a:solidFill>
              </a:defRPr>
            </a:pPr>
            <a:r>
              <a:t>In-house AI Harness → External Service + SaaS/BaaS Product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0CAF9"/>
                </a:solidFill>
              </a:defRPr>
            </a:pPr>
            <a:r>
              <a:t>18 projects across 6 strategic categories · Prepared for company-wide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1 — END GOAL: The 3-Year+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Two Parallel Revenue Paths from One Engineering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🤖 AI Harness Service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Develop an in-house AI codebase/data harness — governance, PR review, staff app builder — then package it as a client implementation service with training/enablement.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Revenue-ready: H2 2028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474720" cy="32004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📦 SaaS / BaaS Products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Separate all six app backends, build shared handlers, then SaaSify Corporate Bohr → Zan → Kikuichimonji as multi-tenant sellable platforms.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First MVP: H2 2028 · GTM: 2029+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74720" cy="3200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</a:defRPr>
            </a:pPr>
            <a:r>
              <a:t>🎓 Training &amp; Enablement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Pair the AI Harness implementation with workshops, manager briefings, and governance playbooks so client organizations can adopt and sustain the harness.</a:t>
            </a:r>
          </a:p>
          <a:p>
            <a:pPr>
              <a:defRPr sz="900" b="1">
                <a:solidFill>
                  <a:srgbClr val="FFFFFF"/>
                </a:solidFill>
              </a:defRPr>
            </a:pPr>
            <a:r>
              <a:t>Pilot: 2029+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2 — ROADMAP: Where Each Project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161"/>
                </a:solidFill>
              </a:defRPr>
            </a:pPr>
            <a:r>
              <a:t>Project Timeline &amp; Dependencies (2026 → 2029+) — each bar shows active period, labels show dependencies (→ depends on, ⊢ blocks)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6–8月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'26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9–12月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H1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1–6月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'27 H2</a:t>
            </a:r>
          </a:p>
          <a:p>
            <a:pPr algn="ctr">
              <a:defRPr sz="700" b="0">
                <a:solidFill>
                  <a:srgbClr val="757575"/>
                </a:solidFill>
              </a:defRPr>
            </a:pPr>
            <a:r>
              <a:t>7–12月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05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1A AI Infra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1508760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AI-01 Local AI Environment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1764792"/>
            <a:ext cx="2157984" cy="228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AI-02 OD Video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1B Reservation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IAHP-01 Ind IAHP Migration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2286000"/>
            <a:ext cx="1060704" cy="2286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IAHP-02 Corp IAHP Migration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63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1C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IAGPT-02 Zendesk Ingestion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3063240"/>
            <a:ext cx="106070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IAGPT-03 Digital 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8688" y="3319272"/>
            <a:ext cx="2157984" cy="228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IAGPT-04 Customer-facing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2A-C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3840480"/>
            <a:ext cx="215798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ARCH-01 Boundary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4096512"/>
            <a:ext cx="544982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PLAT-01 Shared Handlers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18688" y="4352544"/>
            <a:ext cx="8741664" cy="228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APP-SEP-01 Backend Separation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3A-D AI-First Dev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617720"/>
            <a:ext cx="215798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GOV-01 PR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873752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DEVAI-01 Staff App Builder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5129784"/>
            <a:ext cx="435254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HARNESS-01 Harness Service Pkg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9648" y="5385816"/>
            <a:ext cx="1060704" cy="228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TRAIN-01 Teaching/Enablement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394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E1E1E"/>
                </a:solidFill>
              </a:defRPr>
            </a:pPr>
            <a:r>
              <a:t>4A-E SaaS / BaaS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5394960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TENANT-01 SaaS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5650992"/>
            <a:ext cx="435254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BOHRCORP-01 Corp Bohr SaaS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99648" y="5907024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ZAN-01 Zan SaaS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99648" y="6163056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KIKU-01 Kiku SaaS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9648" y="6419088"/>
            <a:ext cx="1060704" cy="228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l">
              <a:defRPr sz="700" b="1">
                <a:solidFill>
                  <a:srgbClr val="FFFFFF"/>
                </a:solidFill>
              </a:defRPr>
            </a:pPr>
            <a:r>
              <a:t>MARKET-01 GTM Packaging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217920"/>
            <a:ext cx="274320" cy="1828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1A — AI Infrastructure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6217920"/>
            <a:ext cx="274320" cy="1828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060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1B — Reservation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6217920"/>
            <a:ext cx="274320" cy="182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1C — Knowledge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6217920"/>
            <a:ext cx="274320" cy="1828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2A-C — Architecture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0" y="6217920"/>
            <a:ext cx="27432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924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3A-D — AI-First Dev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6217920"/>
            <a:ext cx="274320" cy="18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21240" y="6190488"/>
            <a:ext cx="1463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1E1E"/>
                </a:solidFill>
              </a:defRPr>
            </a:pPr>
            <a:r>
              <a:t>4A-E — SaaS/BaaS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3 — GOAL CHAIN: How Each Project Moves Us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Dependency Chain: Foundation → Internal Capability → External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A237E"/>
                </a:solidFill>
              </a:defRPr>
            </a:pPr>
            <a:r>
              <a:t>PHASE 1 — Foundation &amp; Quick Wins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378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1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AI-01</a:t>
            </a:r>
            <a:br/>
            <a:r>
              <a:t>Local AI Hardware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Reusable compute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978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49827" y="1371600"/>
            <a:ext cx="228600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2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AI-02</a:t>
            </a:r>
            <a:br/>
            <a:r>
              <a:t>OD Video Auto.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6→24 lessons/mo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582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371600"/>
            <a:ext cx="228600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3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IAGPT-02→03→04</a:t>
            </a:r>
            <a:br/>
            <a:r>
              <a:t>Knowledge Platform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Zendesk → Digital Text →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1867" y="169164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1907" y="1371600"/>
            <a:ext cx="2286000" cy="91440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4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IAHP-01→02</a:t>
            </a:r>
            <a:br/>
            <a:r>
              <a:t>Reservation Mig.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Source-controlled 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60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PHASE 2 — Architecture &amp; Separation (2026–2029+)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80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5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ARCH-01</a:t>
            </a:r>
            <a:br/>
            <a:r>
              <a:t>Boundary Discovery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Map 6 apps, deps, 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84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6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PLAT-01</a:t>
            </a:r>
            <a:br/>
            <a:r>
              <a:t>Shared Handlers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File/Content/Event/DB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847" y="32004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8887" y="2880360"/>
            <a:ext cx="2286000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STEP 7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APP-SEP-01</a:t>
            </a:r>
            <a:br/>
            <a:r>
              <a:t>Backend Separation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6 backends separated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PHASE 3 — Two Parallel Revenue Paths (2027–2029+)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PATH A: AI Harness Service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378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GOV-01</a:t>
            </a:r>
            <a:br/>
            <a:r>
              <a:t>PR Governance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Review gates,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978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4982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DEVAI-01</a:t>
            </a:r>
            <a:br/>
            <a:r>
              <a:t>Staff Builder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Non-eng build → PRs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582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HARNESS-01</a:t>
            </a:r>
            <a:br/>
            <a:r>
              <a:t>Service Pack.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Method,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1867" y="4846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1907" y="4572000"/>
            <a:ext cx="22860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11a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TRAIN-01</a:t>
            </a:r>
            <a:br/>
            <a:r>
              <a:t>Teaching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Workshops, playbooks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4068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62828"/>
                </a:solidFill>
              </a:defRPr>
            </a:pPr>
            <a:r>
              <a:t>PATH B: SaaS / BaaS Product 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378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8b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TENANT-01</a:t>
            </a:r>
            <a:br/>
            <a:r>
              <a:t>SaaS Foundation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Multi-tenant, auth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978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4982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9b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BOHRCORP-01</a:t>
            </a:r>
            <a:br/>
            <a:r>
              <a:t>Corp Bohr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First SaaS LMS/CRM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582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586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10b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ZAN / KIKU</a:t>
            </a:r>
            <a:br/>
            <a:r>
              <a:t>More SaaS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Expand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598932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1907" y="5715000"/>
            <a:ext cx="2286000" cy="8229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700">
                <a:solidFill>
                  <a:srgbClr val="FFFFFF"/>
                </a:solidFill>
              </a:defRPr>
            </a:pPr>
            <a:r>
              <a:t>11b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MARKET-01</a:t>
            </a:r>
            <a:br/>
            <a:r>
              <a:t>GTM Packaging</a:t>
            </a:r>
          </a:p>
          <a:p>
            <a:pPr algn="ctr">
              <a:spcBef>
                <a:spcPts val="200"/>
              </a:spcBef>
              <a:defRPr sz="700">
                <a:solidFill>
                  <a:srgbClr val="FFFFFF"/>
                </a:solidFill>
              </a:defRPr>
            </a:pPr>
            <a:r>
              <a:t>Pricing, sales materials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16161"/>
                </a:solidFill>
              </a:defRPr>
            </a:pPr>
            <a:r>
              <a:t>↑ Both paths converge: MARKET-01 packages SaaS products + AI Harness pilots into unified go-to-market offers.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(1/2)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AI-01 Local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AI env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Local AI testing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ext cost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AI-02 OD Video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Pipeline maintain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6→24 lessons/mo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More lead gen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Faster refresh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4x throughput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IAHP-01 Ind Mig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Source control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Reliable funnel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reservations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Design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IAHP-02 Corp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Controlled form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Corp intake stable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Clearer ownership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IAGPT-02 Zendesk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IA knowledge base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Search approved ans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vendor dep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IAGPT-03 Dig.Text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pipeline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 KB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Grounded answers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Knowledge asset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IAGPT-04 Cust.AI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AI channel to build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channel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repetitive load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Cost reduction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ARCH-01 Boundaries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ownership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Fewer regressions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Evidence-based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Clear boundaries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PLAT-01 Handlers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Shared APIs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Stable behavior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Reusability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Easier custom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 — DEPARTMENT BENEFITS (2/2)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640080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Strong</a:t>
            </a:r>
          </a:p>
        </p:txBody>
      </p:sp>
      <p:sp>
        <p:nvSpPr>
          <p:cNvPr id="6" name="Oval 5"/>
          <p:cNvSpPr/>
          <p:nvPr/>
        </p:nvSpPr>
        <p:spPr>
          <a:xfrm>
            <a:off x="1645920" y="640080"/>
            <a:ext cx="109728" cy="109728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105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Moderate</a:t>
            </a:r>
          </a:p>
        </p:txBody>
      </p:sp>
      <p:sp>
        <p:nvSpPr>
          <p:cNvPr id="8" name="Oval 7"/>
          <p:cNvSpPr/>
          <p:nvPr/>
        </p:nvSpPr>
        <p:spPr>
          <a:xfrm>
            <a:off x="3017520" y="640080"/>
            <a:ext cx="109728" cy="109728"/>
          </a:xfrm>
          <a:prstGeom prst="ellipse">
            <a:avLst/>
          </a:prstGeom>
          <a:solidFill>
            <a:srgbClr val="90C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Indirect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640080"/>
            <a:ext cx="109728" cy="109728"/>
          </a:xfrm>
          <a:prstGeom prst="ellipse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9436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161"/>
                </a:solidFill>
              </a:defRPr>
            </a:pPr>
            <a: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914400"/>
            <a:ext cx="1188720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Curric/Instr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561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30768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53344" y="914400"/>
            <a:ext cx="1161288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2344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APP-SEP-01 Sep.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App ownership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2432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Product-specific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561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4690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cross-risk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Marketable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30768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92056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53344" y="123444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Indep.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73736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GOV-01 PR Gov.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Scalable AI contr.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432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Future contrib.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Quality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30768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Curriculum input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92056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53344" y="173736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2402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DEVAI-01 Staff Bldr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Review workflow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2432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Build tools locally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Mktg tools locally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4690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tools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Ops tools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69480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Dev capacity↑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material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2056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53344" y="224028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274320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HARNESS-01 Svc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6304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Reusable method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8561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service to sell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4690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80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New revenue line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30768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2056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53344" y="274320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Service definition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2461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TRAIN-01 Teaching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6304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feedback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2432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8561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Training to sell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4690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Adoption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30768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Core delivery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2056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53344" y="324612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374904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TENANT-01 SaaS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6304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Tenant/roles/config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561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base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4690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Tenant reasoning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model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foundation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8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92056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753344" y="374904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framework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2519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BOHRCORP-01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6304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to engineer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2432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8561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Sellable LMS/CRM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4690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Less one-off req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69480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revenue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30768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92056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753344" y="425196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validation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75488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ZAN-01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6304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2432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8561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4690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Admin modules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69480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30768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753344" y="475488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52578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KIKU-01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6304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2432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8561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94690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Config platform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30768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753344" y="5257800"/>
            <a:ext cx="1161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760720"/>
            <a:ext cx="1188720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MARKET-01 GTM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46304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Common package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62432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78561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Pricing, sales mat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94690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Support model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269480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GTM revenue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430768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92056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753344" y="5760720"/>
            <a:ext cx="1161288" cy="502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wrap="square"/>
          <a:lstStyle/>
          <a:p>
            <a:pPr algn="ctr">
              <a:defRPr sz="600">
                <a:solidFill>
                  <a:srgbClr val="1E1E1E"/>
                </a:solidFill>
              </a:defRPr>
            </a:pPr>
            <a:r>
              <a:t>● Product packaging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