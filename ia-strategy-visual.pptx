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IA System Development Strategy — Visual Roadmap 2026–2029+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BBDEFB"/>
                </a:solidFill>
              </a:defRPr>
            </a:pPr>
            <a:r>
              <a:t>In-house AI Harness → External Service + SaaS/BaaS Product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0CAF9"/>
                </a:solidFill>
              </a:defRPr>
            </a:pPr>
            <a:r>
              <a:t>18 projects across 6 strategic categories · Prepared for company-wide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1 — END GOAL: The 3-Year+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Two Parallel Revenue Paths from One Engineering Foundation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</a:defRPr>
            </a:pPr>
            <a:r>
              <a:t>🤖 AI Harness Service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Develop an in-house AI codebase/data harness — governance, PR review, staff app builder — then package it as a client implementation service with training/enablement.</a:t>
            </a:r>
          </a:p>
          <a:p>
            <a:pPr>
              <a:defRPr sz="900" b="1">
                <a:solidFill>
                  <a:srgbClr val="FFFFFF"/>
                </a:solidFill>
              </a:defRPr>
            </a:pPr>
            <a:r>
              <a:t>Revenue-ready: H2 2028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3474720" cy="320040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</a:defRPr>
            </a:pPr>
            <a:r>
              <a:t>📦 SaaS / BaaS Products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Separate all six app backends, build shared handlers, then SaaSify Corporate Bohr → Zan → Kikuichimonji as multi-tenant sellable platforms.</a:t>
            </a:r>
          </a:p>
          <a:p>
            <a:pPr>
              <a:defRPr sz="900" b="1">
                <a:solidFill>
                  <a:srgbClr val="FFFFFF"/>
                </a:solidFill>
              </a:defRPr>
            </a:pPr>
            <a:r>
              <a:t>First MVP: H2 2028 · GTM: 2029+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371600"/>
            <a:ext cx="3474720" cy="3200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</a:defRPr>
            </a:pPr>
            <a:r>
              <a:t>🎓 Training &amp; Enablement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Pair the AI Harness implementation with workshops, manager briefings, and governance playbooks so client organizations can adopt and sustain the harness.</a:t>
            </a:r>
          </a:p>
          <a:p>
            <a:pPr>
              <a:defRPr sz="900" b="1">
                <a:solidFill>
                  <a:srgbClr val="FFFFFF"/>
                </a:solidFill>
              </a:defRPr>
            </a:pPr>
            <a:r>
              <a:t>Pilot: 2029+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2 — ROADMAP: Where Each Project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16161"/>
                </a:solidFill>
              </a:defRPr>
            </a:pPr>
            <a:r>
              <a:t>Project Timeline &amp; Dependencies (2026 → 2029+) — each bar shows active period, labels show dependencies (→ depends on, ⊢ blocks)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'26 H1</a:t>
            </a:r>
          </a:p>
          <a:p>
            <a:pPr algn="ctr">
              <a:defRPr sz="700" b="0">
                <a:solidFill>
                  <a:srgbClr val="757575"/>
                </a:solidFill>
              </a:defRPr>
            </a:pPr>
            <a:r>
              <a:t>6–8月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'26 H2</a:t>
            </a:r>
          </a:p>
          <a:p>
            <a:pPr algn="ctr">
              <a:defRPr sz="700" b="0">
                <a:solidFill>
                  <a:srgbClr val="757575"/>
                </a:solidFill>
              </a:defRPr>
            </a:pPr>
            <a:r>
              <a:t>9–12月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'27 H1</a:t>
            </a:r>
          </a:p>
          <a:p>
            <a:pPr algn="ctr">
              <a:defRPr sz="700" b="0">
                <a:solidFill>
                  <a:srgbClr val="757575"/>
                </a:solidFill>
              </a:defRPr>
            </a:pPr>
            <a:r>
              <a:t>1–6月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'27 H2</a:t>
            </a:r>
          </a:p>
          <a:p>
            <a:pPr algn="ctr">
              <a:defRPr sz="700" b="0">
                <a:solidFill>
                  <a:srgbClr val="757575"/>
                </a:solidFill>
              </a:defRPr>
            </a:pPr>
            <a:r>
              <a:t>7–12月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'28 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'28 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'29 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'29 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2029+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5087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1A AI Infra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1408" y="1508760"/>
            <a:ext cx="2157984" cy="2286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AI-01 Local AI Environment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1408" y="1764792"/>
            <a:ext cx="2157984" cy="2286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AI-02 OD Video Automation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1B Reservation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21408" y="2286000"/>
            <a:ext cx="1060704" cy="22860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IAHP-01 Ind IAHP Migration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18688" y="2286000"/>
            <a:ext cx="1060704" cy="22860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IAHP-02 Corp IAHP Migration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63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1C Knowledge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1408" y="3063240"/>
            <a:ext cx="1060704" cy="228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IAGPT-02 Zendesk Ingestion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8688" y="3063240"/>
            <a:ext cx="1060704" cy="228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IAGPT-03 Digital 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18688" y="3319272"/>
            <a:ext cx="2157984" cy="228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IAGPT-04 Customer-facing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2A-C Architecture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21408" y="3840480"/>
            <a:ext cx="2157984" cy="2286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ARCH-01 Boundary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18688" y="4096512"/>
            <a:ext cx="5449824" cy="2286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PLAT-01 Shared Handlers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18688" y="4352544"/>
            <a:ext cx="8741664" cy="2286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APP-SEP-01 Backend Separation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17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3A-D AI-First Dev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8688" y="4617720"/>
            <a:ext cx="2157984" cy="228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GOV-01 PR Governance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4873752"/>
            <a:ext cx="4352544" cy="228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DEVAI-01 Staff App Builder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07808" y="5129784"/>
            <a:ext cx="4352544" cy="228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HARNESS-01 Harness Service Pkg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99648" y="5385816"/>
            <a:ext cx="1060704" cy="228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TRAIN-01 Teaching/Enablement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394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4A-E SaaS / BaaS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10528" y="5394960"/>
            <a:ext cx="435254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TENANT-01 SaaS Foundation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07808" y="5650992"/>
            <a:ext cx="435254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BOHRCORP-01 Corp Bohr SaaS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99648" y="5907024"/>
            <a:ext cx="106070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ZAN-01 Zan SaaS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899648" y="6163056"/>
            <a:ext cx="106070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KIKU-01 Kiku SaaS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899648" y="6419088"/>
            <a:ext cx="106070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MARKET-01 GTM Packaging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217920"/>
            <a:ext cx="274320" cy="1828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1A — AI Infrastructure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0" y="6217920"/>
            <a:ext cx="274320" cy="1828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060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1B — Reservation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6217920"/>
            <a:ext cx="274320" cy="1828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348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1C — Knowledge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6217920"/>
            <a:ext cx="274320" cy="1828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2A-C — Architecture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0" y="6217920"/>
            <a:ext cx="274320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924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3A-D — AI-First Dev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01200" y="6217920"/>
            <a:ext cx="274320" cy="182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212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4A-E — SaaS/BaaS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3 — GOAL CHAIN: How Each Project Moves Us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Dependency Chain: Foundation → Internal Capability → External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A237E"/>
                </a:solidFill>
              </a:defRPr>
            </a:pPr>
            <a:r>
              <a:t>PHASE 1 — Foundation &amp; Quick Wins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3787" y="1371600"/>
            <a:ext cx="2286000" cy="9144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1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AI-01</a:t>
            </a:r>
            <a:br/>
            <a:r>
              <a:t>Local AI Hardware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Reusable compute env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9787" y="169164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49827" y="1371600"/>
            <a:ext cx="2286000" cy="9144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2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AI-02</a:t>
            </a:r>
            <a:br/>
            <a:r>
              <a:t>OD Video Auto.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6→24 lessons/mo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5827" y="169164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371600"/>
            <a:ext cx="2286000" cy="9144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3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IAGPT-02→03→04</a:t>
            </a:r>
            <a:br/>
            <a:r>
              <a:t>Knowledge Platform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Zendesk → Digital Text →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1867" y="169164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1907" y="1371600"/>
            <a:ext cx="2286000" cy="91440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4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IAHP-01→02</a:t>
            </a:r>
            <a:br/>
            <a:r>
              <a:t>Reservation Mig.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Source-controlled forms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603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PHASE 2 — Architecture &amp; Separation (2026–2029+)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46807" y="2880360"/>
            <a:ext cx="2286000" cy="914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5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ARCH-01</a:t>
            </a:r>
            <a:br/>
            <a:r>
              <a:t>Boundary Discovery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Map 6 apps, deps, 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32004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2847" y="2880360"/>
            <a:ext cx="2286000" cy="914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6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PLAT-01</a:t>
            </a:r>
            <a:br/>
            <a:r>
              <a:t>Shared Handlers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File/Content/Event/DB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847" y="32004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8887" y="2880360"/>
            <a:ext cx="2286000" cy="914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7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APP-SEP-01</a:t>
            </a:r>
            <a:br/>
            <a:r>
              <a:t>Backend Separation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6 backends separated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7D32"/>
                </a:solidFill>
              </a:defRPr>
            </a:pPr>
            <a:r>
              <a:t>PHASE 3 — Two Parallel Revenue Paths (2027–2029+)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7D32"/>
                </a:solidFill>
              </a:defRPr>
            </a:pPr>
            <a:r>
              <a:t>PATH A: AI Harness Service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3787" y="4572000"/>
            <a:ext cx="22860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8a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GOV-01</a:t>
            </a:r>
            <a:br/>
            <a:r>
              <a:t>PR Governance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Review gates, 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29787" y="4846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49827" y="4572000"/>
            <a:ext cx="22860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9a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DEVAI-01</a:t>
            </a:r>
            <a:br/>
            <a:r>
              <a:t>Staff Builder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Non-eng build → PRs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35827" y="4846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5867" y="4572000"/>
            <a:ext cx="22860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10a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HARNESS-01</a:t>
            </a:r>
            <a:br/>
            <a:r>
              <a:t>Service Pack.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Method, templates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1867" y="4846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1907" y="4572000"/>
            <a:ext cx="22860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11a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TRAIN-01</a:t>
            </a:r>
            <a:br/>
            <a:r>
              <a:t>Teaching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Workshops, playbooks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44068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62828"/>
                </a:solidFill>
              </a:defRPr>
            </a:pPr>
            <a:r>
              <a:t>PATH B: SaaS / BaaS Product 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3787" y="5715000"/>
            <a:ext cx="2286000" cy="8229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8b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TENANT-01</a:t>
            </a:r>
            <a:br/>
            <a:r>
              <a:t>SaaS Foundation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Multi-tenant, auth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29787" y="5989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49827" y="5715000"/>
            <a:ext cx="2286000" cy="8229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9b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BOHRCORP-01</a:t>
            </a:r>
            <a:br/>
            <a:r>
              <a:t>Corp Bohr SaaS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First SaaS LMS/CRM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35827" y="5989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55867" y="5715000"/>
            <a:ext cx="2286000" cy="8229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10b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ZAN / KIKU</a:t>
            </a:r>
            <a:br/>
            <a:r>
              <a:t>More SaaS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Expand products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1867" y="5989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1907" y="5715000"/>
            <a:ext cx="2286000" cy="8229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11b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MARKET-01</a:t>
            </a:r>
            <a:br/>
            <a:r>
              <a:t>GTM Packaging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Pricing, sales materials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16161"/>
                </a:solidFill>
              </a:defRPr>
            </a:pPr>
            <a:r>
              <a:t>↑ Both paths converge: MARKET-01 packages SaaS products + AI Harness pilots into unified go-to-market offers.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4 — DEPARTMENT BENEFITS (1/2)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640080"/>
            <a:ext cx="109728" cy="109728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Strong</a:t>
            </a:r>
          </a:p>
        </p:txBody>
      </p:sp>
      <p:sp>
        <p:nvSpPr>
          <p:cNvPr id="6" name="Oval 5"/>
          <p:cNvSpPr/>
          <p:nvPr/>
        </p:nvSpPr>
        <p:spPr>
          <a:xfrm>
            <a:off x="1645920" y="640080"/>
            <a:ext cx="109728" cy="109728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105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Moderate</a:t>
            </a:r>
          </a:p>
        </p:txBody>
      </p:sp>
      <p:sp>
        <p:nvSpPr>
          <p:cNvPr id="8" name="Oval 7"/>
          <p:cNvSpPr/>
          <p:nvPr/>
        </p:nvSpPr>
        <p:spPr>
          <a:xfrm>
            <a:off x="3017520" y="640080"/>
            <a:ext cx="109728" cy="109728"/>
          </a:xfrm>
          <a:prstGeom prst="ellipse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821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Indirect</a:t>
            </a:r>
          </a:p>
        </p:txBody>
      </p:sp>
      <p:sp>
        <p:nvSpPr>
          <p:cNvPr id="10" name="Oval 9"/>
          <p:cNvSpPr/>
          <p:nvPr/>
        </p:nvSpPr>
        <p:spPr>
          <a:xfrm>
            <a:off x="4389120" y="640080"/>
            <a:ext cx="109728" cy="109728"/>
          </a:xfrm>
          <a:prstGeom prst="ellipse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None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914400"/>
            <a:ext cx="1188720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Sys Dev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24328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Curric/Instr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5616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Mktg/Sales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46904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30768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2056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53344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Prod Owners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2344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AI-01 Local 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Shared AI env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24328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Local AI testing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85616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Faster content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46904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Future AI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8192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9480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ext cost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30768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92056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53344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73736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AI-02 OD Video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Pipeline maintain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4328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6→24 lessons/mo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85616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More lead gen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46904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Faster refresh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9480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4x throughput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30768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92056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753344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2402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IAHP-01 Ind Mig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63040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Source control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24328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85616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Reliable funnel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46904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Stable reservations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69480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Risk reduction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30768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92056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Design review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753344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274320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IAHP-02 Corp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63040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Controlled form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24328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85616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Corp intake stable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46904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Clearer ownership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69480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Risk reduction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30768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92056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753344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32461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IAGPT-02 Zendesk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63040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IA knowledge base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24328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85616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46904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Search approved ans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69480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vendor dep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30768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2056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53344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374904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IAGPT-03 Dig.Text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63040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Knowledge pipeline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24328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Curriculum in KB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85616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46904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Grounded answers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69480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Knowledge asset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30768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592056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753344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" y="42519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IAGPT-04 Cust.AI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463040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AI channel to build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624328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785616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Support channel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46904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repetitive load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08192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269480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Cost reduction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30768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592056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753344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475488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ARCH-01 Boundaries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63040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Clear ownership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624328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785616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946904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08192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Fewer regressions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269480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Evidence-based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30768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92056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753344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Clear boundaries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4320" y="52578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PLAT-01 Handlers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463040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Shared APIs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624328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85616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946904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08192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Stable behavior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69480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Reusability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30768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592056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753344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Easier custom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4 — DEPARTMENT BENEFITS (2/2)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640080"/>
            <a:ext cx="109728" cy="109728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Strong</a:t>
            </a:r>
          </a:p>
        </p:txBody>
      </p:sp>
      <p:sp>
        <p:nvSpPr>
          <p:cNvPr id="6" name="Oval 5"/>
          <p:cNvSpPr/>
          <p:nvPr/>
        </p:nvSpPr>
        <p:spPr>
          <a:xfrm>
            <a:off x="1645920" y="640080"/>
            <a:ext cx="109728" cy="109728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105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Moderate</a:t>
            </a:r>
          </a:p>
        </p:txBody>
      </p:sp>
      <p:sp>
        <p:nvSpPr>
          <p:cNvPr id="8" name="Oval 7"/>
          <p:cNvSpPr/>
          <p:nvPr/>
        </p:nvSpPr>
        <p:spPr>
          <a:xfrm>
            <a:off x="3017520" y="640080"/>
            <a:ext cx="109728" cy="109728"/>
          </a:xfrm>
          <a:prstGeom prst="ellipse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821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Indirect</a:t>
            </a:r>
          </a:p>
        </p:txBody>
      </p:sp>
      <p:sp>
        <p:nvSpPr>
          <p:cNvPr id="10" name="Oval 9"/>
          <p:cNvSpPr/>
          <p:nvPr/>
        </p:nvSpPr>
        <p:spPr>
          <a:xfrm>
            <a:off x="4389120" y="640080"/>
            <a:ext cx="109728" cy="109728"/>
          </a:xfrm>
          <a:prstGeom prst="ellipse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None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914400"/>
            <a:ext cx="1188720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Sys Dev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24328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Curric/Instr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5616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Mktg/Sales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46904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30768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2056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53344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Prod Owners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2344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APP-SEP-01 Sep.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App ownership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24328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Product-specific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85616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features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46904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8192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cross-risk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9480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Marketable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30768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92056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53344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Indep. ownership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73736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GOV-01 PR Gov.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Scalable AI contr.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4328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Future contrib.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85616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46904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9480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Quality control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30768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Curriculum input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92056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753344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2402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DEVAI-01 Staff Bldr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63040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Review workflow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24328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Build tools locally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85616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Mktg tools locally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46904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Support tools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Ops tools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69480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Dev capacity↑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30768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Training material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92056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753344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274320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HARNESS-01 Svc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63040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Reusable method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24328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85616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New service to sell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46904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69480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New revenue line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30768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92056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753344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Service definition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32461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TRAIN-01 Teaching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63040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Adoption feedback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24328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85616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Training to sell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46904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69480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Adoption revenue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30768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Core delivery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2056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53344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374904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TENANT-01 SaaS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63040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Tenant/roles/config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24328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85616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Sellable base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46904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Tenant reasoning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Config model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69480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SaaS foundation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30768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592056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753344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Config framework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" y="42519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BOHRCORP-01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463040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SaaS to engineer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624328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785616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Sellable LMS/CRM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46904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08192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one-off req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269480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revenue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30768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592056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753344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validation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475488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ZAN-01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63040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SaaS candidate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624328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785616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Sales product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946904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08192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Admin modules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269480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Revenue option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30768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92056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753344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discovery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4320" y="52578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KIKU-01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463040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SaaS candidate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624328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85616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Sales product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946904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08192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Config platform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69480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Revenue option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30768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592056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753344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discovery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576072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MARKET-01 GTM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463040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Common package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624328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785616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Pricing, sales mat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946904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Support model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108192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269480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GTM revenue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430768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592056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753344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packaging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5 — HIRING PLAN: When and Who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16161"/>
                </a:solidFill>
              </a:defRPr>
            </a:pPr>
            <a:r>
              <a:t>Staffing Timeline — 3 Hires Staggered Across 18 Months (Current: 3 devs + 1 mgr → Target: 6 devs + 1 mgr)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515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'26 H1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0515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'26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'27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'27 H2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515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'28 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0515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'28 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0515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'29 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0515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'29 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0515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2029+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50876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1E1E"/>
                </a:solidFill>
              </a:defRPr>
            </a:pPr>
            <a:r>
              <a:t>📅 Hires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8688" y="1508760"/>
            <a:ext cx="1060704" cy="5486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Sep 2026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Hire #1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508760"/>
            <a:ext cx="1060704" cy="54864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Apr 2027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Hire #2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0528" y="1508760"/>
            <a:ext cx="1060704" cy="54864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Jan 2028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Hire 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24028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1E1E"/>
                </a:solidFill>
              </a:defRPr>
            </a:pPr>
            <a:r>
              <a:t>👥 Team size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21408" y="2240280"/>
            <a:ext cx="2157984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3 devs + 1 mgr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5968" y="2240280"/>
            <a:ext cx="2157984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4 devs + 1 mgr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0528" y="2240280"/>
            <a:ext cx="2157984" cy="36576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5 devs + 1 mgr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5088" y="2240280"/>
            <a:ext cx="3255264" cy="36576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6 devs + 1 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7889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1E1E"/>
                </a:solidFill>
              </a:defRPr>
            </a:pPr>
            <a:r>
              <a:t>📊 Load vs capacity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21408" y="2788920"/>
            <a:ext cx="215798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2.2 vs 3.5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OK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18688" y="2788920"/>
            <a:ext cx="1060704" cy="5029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6.0 vs 4.5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🔴 TIGHT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5968" y="2788920"/>
            <a:ext cx="215798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4.0 vs 4.5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Covered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10528" y="2788920"/>
            <a:ext cx="1060704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4.0 vs 5.5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Covered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07808" y="2788920"/>
            <a:ext cx="1060704" cy="5029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5.0 vs 5.5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⚠ Tight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05088" y="2788920"/>
            <a:ext cx="3255264" cy="5029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3.5-4.0 vs 6.5</a:t>
            </a:r>
          </a:p>
          <a:p>
            <a:pPr algn="ctr">
              <a:defRPr sz="700" b="0">
                <a:solidFill>
                  <a:srgbClr val="FFFFFF"/>
                </a:solidFill>
              </a:defRPr>
            </a:pPr>
            <a:r>
              <a:t>✅ Comfortable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474720"/>
            <a:ext cx="11247120" cy="310896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1A237E"/>
                </a:solidFill>
              </a:defRPr>
            </a:pPr>
            <a:r>
              <a:t>Why These 3 Hires, Why These Dates</a:t>
            </a:r>
          </a:p>
          <a:p>
            <a:pPr>
              <a:spcAft>
                <a:spcPts val="400"/>
              </a:spcAft>
              <a:defRPr sz="1000">
                <a:solidFill>
                  <a:srgbClr val="1E1E1E"/>
                </a:solidFill>
              </a:defRPr>
            </a:pPr>
            <a:r>
              <a:rPr sz="1000" b="1">
                <a:solidFill>
                  <a:srgbClr val="1A237E"/>
                </a:solidFill>
              </a:rPr>
              <a:t>Hire #1 — Sep 2026: </a:t>
            </a:r>
            <a:r>
              <a:rPr sz="1000">
                <a:solidFill>
                  <a:srgbClr val="1E1E1E"/>
                </a:solidFill>
              </a:rPr>
              <a:t>26H2 is the cliff. 9 concurrent projects spike dev-load to 6.0. Without this hire, PLAT-01 or APP-SEP-01 will stall. This hire absorbs reservation/knowledge platform work, freeing senior devs for architecture.</a:t>
            </a:r>
          </a:p>
          <a:p>
            <a:pPr>
              <a:spcAft>
                <a:spcPts val="400"/>
              </a:spcAft>
              <a:defRPr sz="1000">
                <a:solidFill>
                  <a:srgbClr val="1E1E1E"/>
                </a:solidFill>
              </a:defRPr>
            </a:pPr>
            <a:r>
              <a:rPr sz="1000" b="1">
                <a:solidFill>
                  <a:srgbClr val="1A237E"/>
                </a:solidFill>
              </a:rPr>
              <a:t>Hire #2 — Apr 2027: </a:t>
            </a:r>
            <a:r>
              <a:rPr sz="1000">
                <a:solidFill>
                  <a:srgbClr val="1E1E1E"/>
                </a:solidFill>
              </a:rPr>
              <a:t>27H1 has 3 heavy projects + DEVAI-01 ramping up. Second hire absorbs governance/staff-builder support so existing devs stay focused on backend separation.</a:t>
            </a:r>
          </a:p>
          <a:p>
            <a:pPr>
              <a:spcAft>
                <a:spcPts val="400"/>
              </a:spcAft>
              <a:defRPr sz="1000">
                <a:solidFill>
                  <a:srgbClr val="1E1E1E"/>
                </a:solidFill>
              </a:defRPr>
            </a:pPr>
            <a:r>
              <a:rPr sz="1000" b="1">
                <a:solidFill>
                  <a:srgbClr val="1A237E"/>
                </a:solidFill>
              </a:rPr>
              <a:t>Hire #3 — Jan 2028: </a:t>
            </a:r>
            <a:r>
              <a:rPr sz="1000">
                <a:solidFill>
                  <a:srgbClr val="1E1E1E"/>
                </a:solidFill>
              </a:rPr>
              <a:t>28H2 adds TENANT-01 and BOHRCORP-01 on top of ongoing PLAT-01 + APP-SEP-01. Dev-load hits 5.0. Third hire takes on SaaS foundation.</a:t>
            </a:r>
          </a:p>
          <a:p>
            <a:pPr>
              <a:spcBef>
                <a:spcPts val="400"/>
              </a:spcBef>
            </a:pPr>
          </a:p>
          <a:p>
            <a:r>
              <a:rPr sz="1000" b="1">
                <a:solidFill>
                  <a:srgbClr val="2E7D32"/>
                </a:solidFill>
              </a:rPr>
              <a:t>What to look for: </a:t>
            </a:r>
            <a:r>
              <a:rPr sz="1000">
                <a:solidFill>
                  <a:srgbClr val="1E1E1E"/>
                </a:solidFill>
              </a:rPr>
              <a:t>Solid dev fundamentals (read code, debug, tests) · Git/PR literacy · Communication skills · Full-stack (Django/Go + Vue) · 2-4 years experience · Independent after 2-month ramp</a:t>
            </a:r>
          </a:p>
          <a:p>
            <a:r>
              <a:rPr sz="1000" b="1">
                <a:solidFill>
                  <a:srgbClr val="C62828"/>
                </a:solidFill>
              </a:rPr>
              <a:t>What's NOT required: </a:t>
            </a:r>
            <a:r>
              <a:rPr sz="1000">
                <a:solidFill>
                  <a:srgbClr val="1E1E1E"/>
                </a:solidFill>
              </a:rPr>
              <a:t>AI/ML expertise (building in-house) · Kubernetes/microservices (ARCH-01 defines) · SaaS platform experience (TENANT-01 is greenfield) · Senior architect-level (manager sets architecture)</a:t>
            </a:r>
          </a:p>
          <a:p>
            <a:pPr>
              <a:spcBef>
                <a:spcPts val="400"/>
              </a:spcBef>
            </a:pPr>
          </a:p>
          <a:p>
            <a:r>
              <a:rPr sz="1000" b="1">
                <a:solidFill>
                  <a:srgbClr val="1A237E"/>
                </a:solidFill>
              </a:rPr>
              <a:t>Why 1-at-a-time: </a:t>
            </a:r>
            <a:r>
              <a:rPr sz="1000">
                <a:solidFill>
                  <a:srgbClr val="1E1E1E"/>
                </a:solidFill>
              </a:rPr>
              <a:t>Manager does most training. Each hire needs ~2 months ramp-up. Staggering matches the schedule's ramp-up pattern and prevents training overload.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