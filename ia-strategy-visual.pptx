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IA System Development Strategy — Visual Roadmap 2026–2029+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BDEFB"/>
                </a:solidFill>
              </a:defRPr>
            </a:pPr>
            <a:r>
              <a:t>In-house AI Harness → External Service + SaaS/BaaS Product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0CAF9"/>
                </a:solidFill>
              </a:defRPr>
            </a:pPr>
            <a:r>
              <a:t>18 projects across 6 strategic categories · Prepared for company-wide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1 — END GOAL: The 3-Year+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Two Parallel Revenue Paths from One Engineering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🤖 AI Harness Service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Develop an in-house AI codebase/data harness — governance, PR review, staff app builder — then package it as a client implementation service with training/enablement.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Revenue-ready: H2 2028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474720" cy="32004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📦 SaaS / BaaS Products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Separate all six app backends, build shared handlers, then SaaSify Corporate Bohr → Zan → Kikuichimonji as multi-tenant sellable platforms.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First MVP: H2 2028 · GTM: 2029+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74720" cy="3200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🎓 Training &amp; Enablement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Pair the AI Harness implementation with workshops, manager briefings, and governance playbooks so client organizations can adopt and sustain the harness.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Pilot: 2029+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2 — ROADMAP: Where Each Project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161"/>
                </a:solidFill>
              </a:defRPr>
            </a:pPr>
            <a:r>
              <a:t>Project Timeline &amp; Dependencies (2026 → 2029+) — each bar shows active period, labels show dependencies (→ depends on, ⊢ blocks)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6–8月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9–12月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1–6月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7–12月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1A AI Infra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1508760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AI-01 Local AI Environment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1764792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AI-02 OD Video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1B Reservation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IAHP-01 Ind IAHP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IAHP-02 Corp IAHP Migration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63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1C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IAGPT-02 Zendesk Ingestion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IAGPT-03 Digital 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8688" y="3319272"/>
            <a:ext cx="215798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IAGPT-04 Customer-facing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2A-C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3840480"/>
            <a:ext cx="215798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ARCH-01 Boundary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4096512"/>
            <a:ext cx="544982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PLAT-01 Shared Handlers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18688" y="4352544"/>
            <a:ext cx="874166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APP-SEP-01 Backend Separation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3A-D AI-First Dev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617720"/>
            <a:ext cx="215798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GOV-01 PR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873752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DEVAI-01 Staff App Builder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5129784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HARNESS-01 Harness Service Pkg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9648" y="5385816"/>
            <a:ext cx="106070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TRAIN-01 Teaching/Enablement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394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4A-E SaaS / BaaS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5394960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TENANT-01 SaaS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5650992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BOHRCORP-01 Corp Bohr SaaS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99648" y="5907024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ZAN-01 Zan SaaS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99648" y="6163056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KIKU-01 Kiku SaaS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9648" y="6419088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MARKET-01 GTM Packaging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217920"/>
            <a:ext cx="274320" cy="1828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1A — AI Infrastructure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6217920"/>
            <a:ext cx="274320" cy="1828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060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1B — Reservation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6217920"/>
            <a:ext cx="274320" cy="182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1C — Knowledge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6217920"/>
            <a:ext cx="274320" cy="1828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2A-C — Architecture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6217920"/>
            <a:ext cx="27432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924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3A-D — AI-First Dev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6217920"/>
            <a:ext cx="274320" cy="18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21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4A-E — SaaS/BaaS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3 — GOAL CHAIN: How Each Project Moves Us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Dependency Chain: Foundation → Internal Capability → External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A237E"/>
                </a:solidFill>
              </a:defRPr>
            </a:pPr>
            <a:r>
              <a:t>PHASE 1 — Foundation &amp; Quick Wins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378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1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AI-01</a:t>
            </a:r>
            <a:br/>
            <a:r>
              <a:t>Local AI Hardware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Reusable compute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978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4982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2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AI-02</a:t>
            </a:r>
            <a:br/>
            <a:r>
              <a:t>OD Video Auto.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6→24 lessons/mo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582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371600"/>
            <a:ext cx="228600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3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IAGPT-02→03→04</a:t>
            </a:r>
            <a:br/>
            <a:r>
              <a:t>Knowledge Platform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Zendesk → Digital Text →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186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1907" y="1371600"/>
            <a:ext cx="2286000" cy="9144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4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IAHP-01→02</a:t>
            </a:r>
            <a:br/>
            <a:r>
              <a:t>Reservation Mig.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Source-controlled 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PHASE 2 — Architecture &amp; Separation (2026–2029+)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80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5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ARCH-01</a:t>
            </a:r>
            <a:br/>
            <a:r>
              <a:t>Boundary Discovery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Map 6 apps, deps, 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84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6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PLAT-01</a:t>
            </a:r>
            <a:br/>
            <a:r>
              <a:t>Shared Handlers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File/Content/Event/DB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84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888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7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APP-SEP-01</a:t>
            </a:r>
            <a:br/>
            <a:r>
              <a:t>Backend Separation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 backends separated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PHASE 3 — Two Parallel Revenue Paths (2027–2029+)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PATH A: AI Harness Service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378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GOV-01</a:t>
            </a:r>
            <a:br/>
            <a:r>
              <a:t>PR Governance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Review gates,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978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4982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DEVAI-01</a:t>
            </a:r>
            <a:br/>
            <a:r>
              <a:t>Staff Builder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Non-eng build → PRs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582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HARNESS-01</a:t>
            </a:r>
            <a:br/>
            <a:r>
              <a:t>Service Pack.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Method,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186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190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TRAIN-01</a:t>
            </a:r>
            <a:br/>
            <a:r>
              <a:t>Teaching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Workshops, playbooks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40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62828"/>
                </a:solidFill>
              </a:defRPr>
            </a:pPr>
            <a:r>
              <a:t>PATH B: SaaS / BaaS Product 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378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TENANT-01</a:t>
            </a:r>
            <a:br/>
            <a:r>
              <a:t>SaaS Foundation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Multi-tenant, auth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978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4982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BOHRCORP-01</a:t>
            </a:r>
            <a:br/>
            <a:r>
              <a:t>Corp Bohr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First SaaS LMS/CRM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582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586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ZAN / KIKU</a:t>
            </a:r>
            <a:br/>
            <a:r>
              <a:t>More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Expand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190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MARKET-01</a:t>
            </a:r>
            <a:br/>
            <a:r>
              <a:t>GTM Packaging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Pricing, sales materials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16161"/>
                </a:solidFill>
              </a:defRPr>
            </a:pPr>
            <a:r>
              <a:t>↑ Both paths converge: MARKET-01 packages SaaS products + AI Harness pilots into unified go-to-market offers.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(1/2)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AI-01 Local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AI env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Local AI testing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ext cost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AI-02 OD Video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Pipeline maintain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6→24 lessons/mo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More lead gen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refresh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4x throughput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IAHP-01 Ind Mig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Source control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Reliable funnel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reservations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Design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IAHP-02 Corp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Controlled form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Corp intake stable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Clearer ownership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IAGPT-02 Zendesk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IA knowledge base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Search approved ans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vendor dep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IAGPT-03 Dig.Text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pipeline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 KB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Grounded answers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asset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IAGPT-04 Cust.AI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AI channel to build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channel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repetitive load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Cost reduction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ARCH-01 Boundaries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ownership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Fewer regressions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Evidence-based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boundaries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PLAT-01 Handlers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APIs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behavior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Reusability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Easier custom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(2/2)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APP-SEP-01 Sep.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App ownership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Product-specific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cross-risk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Marketable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Indep.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GOV-01 PR Gov.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Scalable AI contr.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contrib.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Quality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input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DEVAI-01 Staff Bldr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Review workflow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Build tools locally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Mktg tools locally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tools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Ops tools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Dev capacity↑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material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HARNESS-01 Svc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Reusable method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service to sell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revenue line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Service definition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TRAIN-01 Teaching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feedback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to sell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Core delivery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TENANT-01 SaaS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Tenant/roles/config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base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 reasoning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model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foundation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framework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BOHRCORP-01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to engineer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LMS/CRM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one-off req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revenue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validation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ZAN-01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Admin modules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KIKU-01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platform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76072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MARKET-01 GTM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46304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Common package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2432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78561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Pricing, sales mat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94690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model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26948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GTM revenue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43076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9205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75334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packaging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5 — HIRING PLAN: When and Who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161"/>
                </a:solidFill>
              </a:defRPr>
            </a:pPr>
            <a:r>
              <a:t>Current: 3 developers + 1 manager (training/management). Target: 6 developers. 4 project starts pushed from Dec 2026 → Jan 2027 to match hiring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📅 New hires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1554480"/>
            <a:ext cx="1060704" cy="5486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Sep 2026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554480"/>
            <a:ext cx="1060704" cy="54864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Apr 2027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554480"/>
            <a:ext cx="1060704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Jan 2028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860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👥 Team size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228600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 developers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28600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 developers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286000"/>
            <a:ext cx="215798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5 developers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2286000"/>
            <a:ext cx="325526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6 developers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83464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📊 Workload vs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283464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~2, have 3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OK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3+1ᵃ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OK (ramping)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283464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4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1324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4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Comfortable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834640"/>
            <a:ext cx="1060704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~5, have 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⚠ Tight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05088" y="2834640"/>
            <a:ext cx="3255264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6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Comfortable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520440"/>
            <a:ext cx="11247120" cy="30632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A237E"/>
                </a:solidFill>
              </a:defRPr>
            </a:pPr>
            <a:r>
              <a:t>Why These 3 Hires, Why These Dates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#1 — Sep 2026: </a:t>
            </a:r>
            <a:r>
              <a:rPr sz="1000">
                <a:solidFill>
                  <a:srgbClr val="1E1E1E"/>
                </a:solidFill>
              </a:rPr>
              <a:t>Sep-Dec has 5 active projects needing ~3 developers. With 3 existing developers plus this hire ramping up, we cover it. This hire takes on reservation/knowledge platform work while senior developers focus on core AI infrastructure.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#2 — Apr 2027: </a:t>
            </a:r>
            <a:r>
              <a:rPr sz="1000">
                <a:solidFill>
                  <a:srgbClr val="1E1E1E"/>
                </a:solidFill>
              </a:rPr>
              <a:t>Jan-Jun 2027 has 5 active projects needing ~4 developers (including 3 large ones). Second hire absorbs governance/staff-builder support so existing developers stay focused on backend separation.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#3 — Jan 2028: </a:t>
            </a:r>
            <a:r>
              <a:rPr sz="1000">
                <a:solidFill>
                  <a:srgbClr val="1E1E1E"/>
                </a:solidFill>
              </a:rPr>
              <a:t>Jul-Dec 2028 adds SaaS foundation and Corporate Bohr SaaS on top of ongoing separation work — 6 projects needing ~5 developers. Third hire takes on SaaS foundation.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Schedule adjustment: </a:t>
            </a:r>
            <a:r>
              <a:rPr sz="1000">
                <a:solidFill>
                  <a:srgbClr val="1E1E1E"/>
                </a:solidFill>
              </a:rPr>
              <a:t>4 project starts (PLAT-01, APP-SEP-01, GOV-01, IAGPT-04) moved from Dec 2026 to Jan 2027 to match hiring pace. Impact is minimal — 1-month slip on multi-year projects.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2E7D32"/>
                </a:solidFill>
              </a:rPr>
              <a:t>What to look for: </a:t>
            </a:r>
            <a:r>
              <a:rPr sz="1000">
                <a:solidFill>
                  <a:srgbClr val="1E1E1E"/>
                </a:solidFill>
              </a:rPr>
              <a:t>Solid dev fundamentals · Git/PR familiarity · Communication skills · Full-stack (Django/Go + Vue) · 2-4 years experience · Independent after 2-month training</a:t>
            </a:r>
          </a:p>
          <a:p>
            <a:r>
              <a:rPr sz="1000" b="1">
                <a:solidFill>
                  <a:srgbClr val="C62828"/>
                </a:solidFill>
              </a:rPr>
              <a:t>What's NOT required: </a:t>
            </a:r>
            <a:r>
              <a:rPr sz="1000">
                <a:solidFill>
                  <a:srgbClr val="1E1E1E"/>
                </a:solidFill>
              </a:rPr>
              <a:t>AI/ML expertise · Kubernetes/microservices · SaaS platform experience · Senior architect-level · Education industry knowledge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5 — HIRING PLAN: When and Who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161"/>
                </a:solidFill>
              </a:defRPr>
            </a:pPr>
            <a:r>
              <a:t>Current: 3 developers + 1 manager (training/management). Target: 6 developers. 4 project starts pushed from Dec 2026 → Jan 2027 to match hiring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9728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📅 New hires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1554480"/>
            <a:ext cx="1060704" cy="5486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Sep 2026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554480"/>
            <a:ext cx="1060704" cy="54864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Apr 2027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554480"/>
            <a:ext cx="1060704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Jan 2028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Hire 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860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👥 Team size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228600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 developers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28600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 developers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286000"/>
            <a:ext cx="215798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5 developers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2286000"/>
            <a:ext cx="325526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6 developers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83464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📊 Workload vs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283464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~2, have 3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OK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3+1ᵃ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OK (ramping)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283464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4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1324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4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Comfortable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283464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834640"/>
            <a:ext cx="1060704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~5, have 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⚠ Tight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05088" y="2834640"/>
            <a:ext cx="3255264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6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Comfortable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520440"/>
            <a:ext cx="11247120" cy="30632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A237E"/>
                </a:solidFill>
              </a:defRPr>
            </a:pPr>
            <a:r>
              <a:t>Why These 3 Hires, Why These Dates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#1 — Sep 2026: </a:t>
            </a:r>
            <a:r>
              <a:rPr sz="1000">
                <a:solidFill>
                  <a:srgbClr val="1E1E1E"/>
                </a:solidFill>
              </a:rPr>
              <a:t>Sep-Dec has 5 active projects needing ~3 developers. With 3 existing developers plus this hire ramping up, we cover it. This hire takes on reservation/knowledge platform work while senior developers focus on core AI infrastructure.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#2 — Apr 2027: </a:t>
            </a:r>
            <a:r>
              <a:rPr sz="1000">
                <a:solidFill>
                  <a:srgbClr val="1E1E1E"/>
                </a:solidFill>
              </a:rPr>
              <a:t>Jan-Jun 2027 has 5 active projects needing ~4 developers (including 3 large ones). Second hire absorbs governance/staff-builder support so existing developers stay focused on backend separation.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#3 — Jan 2028: </a:t>
            </a:r>
            <a:r>
              <a:rPr sz="1000">
                <a:solidFill>
                  <a:srgbClr val="1E1E1E"/>
                </a:solidFill>
              </a:rPr>
              <a:t>Jul-Dec 2028 adds SaaS foundation and Corporate Bohr SaaS on top of ongoing separation work — 6 projects needing ~5 developers. Third hire takes on SaaS foundation.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Schedule adjustment: </a:t>
            </a:r>
            <a:r>
              <a:rPr sz="1000">
                <a:solidFill>
                  <a:srgbClr val="1E1E1E"/>
                </a:solidFill>
              </a:rPr>
              <a:t>4 project starts (PLAT-01, APP-SEP-01, GOV-01, IAGPT-04) moved from Dec 2026 to Jan 2027 to match hiring pace. Impact is minimal — 1-month slip on multi-year projects.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2E7D32"/>
                </a:solidFill>
              </a:rPr>
              <a:t>What to look for: </a:t>
            </a:r>
            <a:r>
              <a:rPr sz="1000">
                <a:solidFill>
                  <a:srgbClr val="1E1E1E"/>
                </a:solidFill>
              </a:rPr>
              <a:t>Solid dev fundamentals · Git/PR familiarity · Communication skills · Full-stack (Django/Go + Vue) · 2-4 years experience · Independent after 2-month training</a:t>
            </a:r>
          </a:p>
          <a:p>
            <a:r>
              <a:rPr sz="1000" b="1">
                <a:solidFill>
                  <a:srgbClr val="C62828"/>
                </a:solidFill>
              </a:rPr>
              <a:t>What's NOT required: </a:t>
            </a:r>
            <a:r>
              <a:rPr sz="1000">
                <a:solidFill>
                  <a:srgbClr val="1E1E1E"/>
                </a:solidFill>
              </a:rPr>
              <a:t>AI/ML expertise · Kubernetes/microservices · SaaS platform experience · Senior architect-level · Education industry knowledge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